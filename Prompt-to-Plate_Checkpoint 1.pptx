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IBM Plex Sans"/>
      <p:regular r:id="rId13"/>
      <p:bold r:id="rId14"/>
      <p:italic r:id="rId15"/>
      <p:boldItalic r:id="rId16"/>
    </p:embeddedFont>
    <p:embeddedFont>
      <p:font typeface="Source Serif 4"/>
      <p:regular r:id="rId17"/>
      <p:bold r:id="rId18"/>
      <p:italic r:id="rId19"/>
      <p:boldItalic r:id="rId20"/>
    </p:embeddedFont>
    <p:embeddedFont>
      <p:font typeface="IBM Plex Sa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450A5D-874C-44E7-B43B-C4823E5B1719}">
  <a:tblStyle styleId="{E2450A5D-874C-44E7-B43B-C4823E5B17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SourceSerif4-boldItalic.fntdata"/><Relationship Id="rId11" Type="http://schemas.openxmlformats.org/officeDocument/2006/relationships/slide" Target="slides/slide6.xml"/><Relationship Id="rId22" Type="http://schemas.openxmlformats.org/officeDocument/2006/relationships/font" Target="fonts/IBMPlexSansSemiBold-bold.fntdata"/><Relationship Id="rId10" Type="http://schemas.openxmlformats.org/officeDocument/2006/relationships/slide" Target="slides/slide5.xml"/><Relationship Id="rId21" Type="http://schemas.openxmlformats.org/officeDocument/2006/relationships/font" Target="fonts/IBMPlexSansSemiBold-regular.fntdata"/><Relationship Id="rId13" Type="http://schemas.openxmlformats.org/officeDocument/2006/relationships/font" Target="fonts/IBMPlexSans-regular.fntdata"/><Relationship Id="rId24" Type="http://schemas.openxmlformats.org/officeDocument/2006/relationships/font" Target="fonts/IBMPlexSansSemiBold-boldItalic.fntdata"/><Relationship Id="rId12" Type="http://schemas.openxmlformats.org/officeDocument/2006/relationships/slide" Target="slides/slide7.xml"/><Relationship Id="rId23" Type="http://schemas.openxmlformats.org/officeDocument/2006/relationships/font" Target="fonts/IBMPlexSa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BMPlexSans-italic.fntdata"/><Relationship Id="rId14" Type="http://schemas.openxmlformats.org/officeDocument/2006/relationships/font" Target="fonts/IBMPlexSans-bold.fntdata"/><Relationship Id="rId17" Type="http://schemas.openxmlformats.org/officeDocument/2006/relationships/font" Target="fonts/SourceSerif4-regular.fntdata"/><Relationship Id="rId16" Type="http://schemas.openxmlformats.org/officeDocument/2006/relationships/font" Target="fonts/IBMPlexSans-boldItalic.fntdata"/><Relationship Id="rId5" Type="http://schemas.openxmlformats.org/officeDocument/2006/relationships/notesMaster" Target="notesMasters/notesMaster1.xml"/><Relationship Id="rId19" Type="http://schemas.openxmlformats.org/officeDocument/2006/relationships/font" Target="fonts/SourceSerif4-italic.fntdata"/><Relationship Id="rId6" Type="http://schemas.openxmlformats.org/officeDocument/2006/relationships/slide" Target="slides/slide1.xml"/><Relationship Id="rId18" Type="http://schemas.openxmlformats.org/officeDocument/2006/relationships/font" Target="fonts/SourceSerif4-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93a4f1c7_0_4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fb93a4f1c7_0_4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SzPts val="1100"/>
              <a:buNone/>
            </a:pPr>
            <a:r>
              <a:rPr b="1" lang="en-US" sz="1700">
                <a:solidFill>
                  <a:schemeClr val="dk1"/>
                </a:solidFill>
              </a:rPr>
              <a:t>1. LLM-Powered Meal Planners</a:t>
            </a:r>
            <a:endParaRPr b="1" sz="17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NutriGen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What it is:</a:t>
            </a:r>
            <a:r>
              <a:rPr lang="en-US" sz="1100">
                <a:solidFill>
                  <a:schemeClr val="dk1"/>
                </a:solidFill>
              </a:rPr>
              <a:t> A personalized meal-planning framework that uses an LLM to generate meal plans based on a user’s dietary preferences and constraints.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How it works:</a:t>
            </a:r>
            <a:r>
              <a:rPr lang="en-US" sz="1100">
                <a:solidFill>
                  <a:schemeClr val="dk1"/>
                </a:solidFill>
              </a:rPr>
              <a:t> NutriGen connects the LLM to verified nutritional information from the USDA FoodData Central database.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Purpose:</a:t>
            </a:r>
            <a:r>
              <a:rPr lang="en-US" sz="1100">
                <a:solidFill>
                  <a:schemeClr val="dk1"/>
                </a:solidFill>
              </a:rPr>
              <a:t> This grounding helps the system create practical meal plans that remain close to the user’s calorie targets.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Important distinction:</a:t>
            </a:r>
            <a:r>
              <a:rPr lang="en-US" sz="1100">
                <a:solidFill>
                  <a:schemeClr val="dk1"/>
                </a:solidFill>
              </a:rPr>
              <a:t> NutriGen is the name of a specific research system, not a general type of technology.</a:t>
            </a:r>
            <a:endParaRPr sz="1100">
              <a:solidFill>
                <a:schemeClr val="dk1"/>
              </a:solidFill>
            </a:endParaRPr>
          </a:p>
          <a:p>
            <a:pPr indent="0" lvl="0" marL="0" rtl="0" algn="l">
              <a:lnSpc>
                <a:spcPct val="115000"/>
              </a:lnSpc>
              <a:spcBef>
                <a:spcPts val="1200"/>
              </a:spcBef>
              <a:spcAft>
                <a:spcPts val="0"/>
              </a:spcAft>
              <a:buSzPts val="1100"/>
              <a:buNone/>
            </a:pPr>
            <a:r>
              <a:rPr b="1" lang="en-US" sz="1100">
                <a:solidFill>
                  <a:schemeClr val="dk1"/>
                </a:solidFill>
              </a:rPr>
              <a:t>Simplified workflow:</a:t>
            </a:r>
            <a:br>
              <a:rPr b="1" lang="en-US" sz="1100">
                <a:solidFill>
                  <a:schemeClr val="dk1"/>
                </a:solidFill>
              </a:rPr>
            </a:br>
            <a:r>
              <a:rPr b="1" lang="en-US" sz="1100">
                <a:solidFill>
                  <a:schemeClr val="dk1"/>
                </a:solidFill>
              </a:rPr>
              <a:t>LLM + USDA nutrition data → Personalized meal plan</a:t>
            </a:r>
            <a:endParaRPr b="1"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VAE and ChatGPT Nutrition Recommender</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What VAE means:</a:t>
            </a:r>
            <a:r>
              <a:rPr lang="en-US" sz="1100">
                <a:solidFill>
                  <a:schemeClr val="dk1"/>
                </a:solidFill>
              </a:rPr>
              <a:t> VAE stands for </a:t>
            </a:r>
            <a:r>
              <a:rPr b="1" lang="en-US" sz="1100">
                <a:solidFill>
                  <a:schemeClr val="dk1"/>
                </a:solidFill>
              </a:rPr>
              <a:t>Variational Autoencoder</a:t>
            </a:r>
            <a:r>
              <a:rPr lang="en-US" sz="1100">
                <a:solidFill>
                  <a:schemeClr val="dk1"/>
                </a:solidFill>
              </a:rPr>
              <a:t>, a type of deep generative machine-learning model.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How it works:</a:t>
            </a:r>
            <a:r>
              <a:rPr lang="en-US" sz="1100">
                <a:solidFill>
                  <a:schemeClr val="dk1"/>
                </a:solidFill>
              </a:rPr>
              <a:t> The VAE learns patterns from user characteristics such as age, body measurements, physical activity, and medical conditions.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Nutritional profiling:</a:t>
            </a:r>
            <a:r>
              <a:rPr lang="en-US" sz="1100">
                <a:solidFill>
                  <a:schemeClr val="dk1"/>
                </a:solidFill>
              </a:rPr>
              <a:t> It represents these characteristics in a compressed mathematical space to identify an appropriate nutritional profile.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Meal optimization:</a:t>
            </a:r>
            <a:r>
              <a:rPr lang="en-US" sz="1100">
                <a:solidFill>
                  <a:schemeClr val="dk1"/>
                </a:solidFill>
              </a:rPr>
              <a:t> An optimization component adjusts meal quantities to match the user’s energy and nutrient requirements.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Role of ChatGPT:</a:t>
            </a:r>
            <a:r>
              <a:rPr lang="en-US" sz="1100">
                <a:solidFill>
                  <a:schemeClr val="dk1"/>
                </a:solidFill>
              </a:rPr>
              <a:t> ChatGPT contributes a wider variety of meal ideas from different cuisines.</a:t>
            </a:r>
            <a:endParaRPr sz="1100">
              <a:solidFill>
                <a:schemeClr val="dk1"/>
              </a:solidFill>
            </a:endParaRPr>
          </a:p>
          <a:p>
            <a:pPr indent="0" lvl="0" marL="0" rtl="0" algn="l">
              <a:lnSpc>
                <a:spcPct val="115000"/>
              </a:lnSpc>
              <a:spcBef>
                <a:spcPts val="1200"/>
              </a:spcBef>
              <a:spcAft>
                <a:spcPts val="0"/>
              </a:spcAft>
              <a:buSzPts val="1100"/>
              <a:buNone/>
            </a:pPr>
            <a:r>
              <a:rPr b="1" lang="en-US" sz="1100">
                <a:solidFill>
                  <a:schemeClr val="dk1"/>
                </a:solidFill>
              </a:rPr>
              <a:t>Simplified workflow:</a:t>
            </a:r>
            <a:br>
              <a:rPr b="1" lang="en-US" sz="1100">
                <a:solidFill>
                  <a:schemeClr val="dk1"/>
                </a:solidFill>
              </a:rPr>
            </a:br>
            <a:r>
              <a:rPr b="1" lang="en-US" sz="1100">
                <a:solidFill>
                  <a:schemeClr val="dk1"/>
                </a:solidFill>
              </a:rPr>
              <a:t>User health profile + VAE + optimizer + ChatGPT → Personalized, nutritionally adjusted weekly plan</a:t>
            </a:r>
            <a:endParaRPr b="1"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Key Distinction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NutriGen and the VAE/ChatGPT recommender are </a:t>
            </a:r>
            <a:r>
              <a:rPr b="1" lang="en-US" sz="1100">
                <a:solidFill>
                  <a:schemeClr val="dk1"/>
                </a:solidFill>
              </a:rPr>
              <a:t>two separate research systems</a:t>
            </a:r>
            <a:r>
              <a:rPr lang="en-US"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They can be grouped under the broader category of </a:t>
            </a:r>
            <a:r>
              <a:rPr b="1" lang="en-US" sz="1100">
                <a:solidFill>
                  <a:schemeClr val="dk1"/>
                </a:solidFill>
              </a:rPr>
              <a:t>LLM-powered or generative meal planners</a:t>
            </a:r>
            <a:r>
              <a:rPr lang="en-US"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They should not be presented as one combined tool.</a:t>
            </a:r>
            <a:endParaRPr sz="1100">
              <a:solidFill>
                <a:schemeClr val="dk1"/>
              </a:solidFill>
            </a:endParaRPr>
          </a:p>
          <a:p>
            <a:pPr indent="0" lvl="0" marL="0" rtl="0" algn="l">
              <a:lnSpc>
                <a:spcPct val="115000"/>
              </a:lnSpc>
              <a:spcBef>
                <a:spcPts val="1200"/>
              </a:spcBef>
              <a:spcAft>
                <a:spcPts val="0"/>
              </a:spcAft>
              <a:buSzPts val="1100"/>
              <a:buNone/>
            </a:pPr>
            <a:r>
              <a:t/>
            </a:r>
            <a:endParaRPr sz="1100">
              <a:solidFill>
                <a:schemeClr val="dk1"/>
              </a:solidFill>
            </a:endParaRPr>
          </a:p>
          <a:p>
            <a:pPr indent="0" lvl="0" marL="0" rtl="0" algn="l">
              <a:lnSpc>
                <a:spcPct val="115000"/>
              </a:lnSpc>
              <a:spcBef>
                <a:spcPts val="1800"/>
              </a:spcBef>
              <a:spcAft>
                <a:spcPts val="0"/>
              </a:spcAft>
              <a:buSzPts val="1100"/>
              <a:buNone/>
            </a:pPr>
            <a:r>
              <a:rPr b="1" lang="en-US" sz="1700">
                <a:solidFill>
                  <a:schemeClr val="dk1"/>
                </a:solidFill>
              </a:rPr>
              <a:t>2. Behavioral Nutrition Coach</a:t>
            </a:r>
            <a:endParaRPr b="1" sz="17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What It Is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 research prototype designed to help people understand and overcome the personal barriers preventing them from meeting their nutrition goals.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Rather than immediately offering general nutrition advice, the system first investigates why the user is struggling.</a:t>
            </a:r>
            <a:endParaRPr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How It Works</a:t>
            </a:r>
            <a:endParaRPr b="1" sz="13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The system uses two specialized LLM agents: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Barrier Identification Agent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Has a conversation with the user to uncover the underlying cause of their difficulty.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Does not simply accept a surface-level statement such as “I eat too much fast food.”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Asks follow-up questions to determine whether the main barrier is limited time, cost, stress, low motivation, limited cooking skills, an unsupportive environment, or another factor.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Strategy Execution Agent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Receives the primary barrier identified by the first agent.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Matches that barrier to an appropriate behavioral strategy.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Translates the strategy into personalized and actionable tactics.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For example, if limited time is the main barrier, it may recommend preparing ingredients in advance or choosing quick meals instead of offering generic advice to “eat healthier.”</a:t>
            </a:r>
            <a:endParaRPr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Simplified Workflow</a:t>
            </a:r>
            <a:endParaRPr b="1" sz="1300">
              <a:solidFill>
                <a:schemeClr val="dk1"/>
              </a:solidFill>
            </a:endParaRPr>
          </a:p>
          <a:p>
            <a:pPr indent="0" lvl="0" marL="0" rtl="0" algn="l">
              <a:lnSpc>
                <a:spcPct val="115000"/>
              </a:lnSpc>
              <a:spcBef>
                <a:spcPts val="1200"/>
              </a:spcBef>
              <a:spcAft>
                <a:spcPts val="0"/>
              </a:spcAft>
              <a:buSzPts val="1100"/>
              <a:buNone/>
            </a:pPr>
            <a:r>
              <a:rPr b="1" lang="en-US" sz="1100">
                <a:solidFill>
                  <a:schemeClr val="dk1"/>
                </a:solidFill>
              </a:rPr>
              <a:t>User conversation → Identify the primary barrier → Match it to a behavioral strategy → Deliver personalized tactics</a:t>
            </a:r>
            <a:endParaRPr b="1" sz="1100">
              <a:solidFill>
                <a:schemeClr val="dk1"/>
              </a:solidFill>
            </a:endParaRPr>
          </a:p>
          <a:p>
            <a:pPr indent="0" lvl="0" marL="0" rtl="0" algn="l">
              <a:lnSpc>
                <a:spcPct val="115000"/>
              </a:lnSpc>
              <a:spcBef>
                <a:spcPts val="1200"/>
              </a:spcBef>
              <a:spcAft>
                <a:spcPts val="0"/>
              </a:spcAft>
              <a:buSzPts val="1100"/>
              <a:buNone/>
            </a:pPr>
            <a:r>
              <a:t/>
            </a:r>
            <a:endParaRPr b="1" sz="1100">
              <a:solidFill>
                <a:schemeClr val="dk1"/>
              </a:solidFill>
            </a:endParaRPr>
          </a:p>
          <a:p>
            <a:pPr indent="0" lvl="0" marL="0" rtl="0" algn="l">
              <a:lnSpc>
                <a:spcPct val="115000"/>
              </a:lnSpc>
              <a:spcBef>
                <a:spcPts val="1800"/>
              </a:spcBef>
              <a:spcAft>
                <a:spcPts val="0"/>
              </a:spcAft>
              <a:buSzPts val="1100"/>
              <a:buNone/>
            </a:pPr>
            <a:r>
              <a:rPr b="1" lang="en-US" sz="1700">
                <a:solidFill>
                  <a:schemeClr val="dk1"/>
                </a:solidFill>
              </a:rPr>
              <a:t>3. AI Shopping Agents</a:t>
            </a:r>
            <a:endParaRPr b="1" sz="17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What They Are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AI shopping agents use LLMs to help users complete purchasing tasks.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They may interpret a user’s request, search product catalogs, compare products, recommend options, and potentially add selected items to a shopping cart.</a:t>
            </a:r>
            <a:endParaRPr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ShoppingComp</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What it is:</a:t>
            </a:r>
            <a:r>
              <a:rPr lang="en-US" sz="1100">
                <a:solidFill>
                  <a:schemeClr val="dk1"/>
                </a:solidFill>
              </a:rPr>
              <a:t> A benchmark developed to test whether LLMs can handle realistic shopping tasks involving multiple requirements.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What it evaluates: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Product retrieval:</a:t>
            </a:r>
            <a:r>
              <a:rPr lang="en-US" sz="1100">
                <a:solidFill>
                  <a:schemeClr val="dk1"/>
                </a:solidFill>
              </a:rPr>
              <a:t> Did the agent find the correct products?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Information gathering:</a:t>
            </a:r>
            <a:r>
              <a:rPr lang="en-US" sz="1100">
                <a:solidFill>
                  <a:schemeClr val="dk1"/>
                </a:solidFill>
              </a:rPr>
              <a:t> Did it collect accurate product details?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Reasoning:</a:t>
            </a:r>
            <a:r>
              <a:rPr lang="en-US" sz="1100">
                <a:solidFill>
                  <a:schemeClr val="dk1"/>
                </a:solidFill>
              </a:rPr>
              <a:t> Did the recommendation satisfy the user’s requirements?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Safety awareness:</a:t>
            </a:r>
            <a:r>
              <a:rPr lang="en-US" sz="1100">
                <a:solidFill>
                  <a:schemeClr val="dk1"/>
                </a:solidFill>
              </a:rPr>
              <a:t> Did the agent recognize hazards, allergies, incompatibilities, or misuse risks?</a:t>
            </a:r>
            <a:endParaRPr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Difficulty With Unstated Expectations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Shopping agents often struggle with requirements that users assume are obvious but do not explicitly state.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For example, someone asking for “an affordable cereal for a child with a peanut allergy” expects the product to be safe, appropriate for a child, and reasonably priced.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 agent may focus only on the words directly included in the request and overlook other important expectations, such as cross-contamination warnings, serving size, or the total cost.</a:t>
            </a:r>
            <a:endParaRPr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ACES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What it is:</a:t>
            </a:r>
            <a:r>
              <a:rPr lang="en-US" sz="1100">
                <a:solidFill>
                  <a:schemeClr val="dk1"/>
                </a:solidFill>
              </a:rPr>
              <a:t> A provider-independent framework for auditing how AI agents choose products in online marketplaces.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Primary focus:</a:t>
            </a:r>
            <a:r>
              <a:rPr lang="en-US" sz="1100">
                <a:solidFill>
                  <a:schemeClr val="dk1"/>
                </a:solidFill>
              </a:rPr>
              <a:t> ACES examines the decision-making behavior and biases of shopping agents, not only whether they find technically acceptable products.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Questions it investigates: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Does the agent favor products that appear earlier in the search results?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Does it repeatedly select a small number of popular products?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Do recommendations change across different models or model versions?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Can sellers influence the agent by changing how they describe a product?</a:t>
            </a:r>
            <a:endParaRPr sz="1100">
              <a:solidFill>
                <a:schemeClr val="dk1"/>
              </a:solidFill>
            </a:endParaRPr>
          </a:p>
          <a:p>
            <a:pPr indent="0" lvl="0" marL="0" rtl="0" algn="l">
              <a:lnSpc>
                <a:spcPct val="115000"/>
              </a:lnSpc>
              <a:spcBef>
                <a:spcPts val="1400"/>
              </a:spcBef>
              <a:spcAft>
                <a:spcPts val="0"/>
              </a:spcAft>
              <a:buSzPts val="1100"/>
              <a:buNone/>
            </a:pPr>
            <a:r>
              <a:rPr b="1" lang="en-US" sz="1300">
                <a:solidFill>
                  <a:schemeClr val="dk1"/>
                </a:solidFill>
              </a:rPr>
              <a:t>Key Findings From ACES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Position bias:</a:t>
            </a:r>
            <a:r>
              <a:rPr lang="en-US" sz="1100">
                <a:solidFill>
                  <a:schemeClr val="dk1"/>
                </a:solidFill>
              </a:rPr>
              <a:t> Products may receive an advantage simply because they appear earlier in the search results.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Choice concentration:</a:t>
            </a:r>
            <a:r>
              <a:rPr lang="en-US" sz="1100">
                <a:solidFill>
                  <a:schemeClr val="dk1"/>
                </a:solidFill>
              </a:rPr>
              <a:t> Agents may repeatedly select a few default products while ignoring other valid options.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Model dependence:</a:t>
            </a:r>
            <a:r>
              <a:rPr lang="en-US" sz="1100">
                <a:solidFill>
                  <a:schemeClr val="dk1"/>
                </a:solidFill>
              </a:rPr>
              <a:t> Different models—and different versions of the same model—may recommend different products.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Unstable preferences:</a:t>
            </a:r>
            <a:r>
              <a:rPr lang="en-US" sz="1100">
                <a:solidFill>
                  <a:schemeClr val="dk1"/>
                </a:solidFill>
              </a:rPr>
              <a:t> An agent’s product recommendations may change after a model update.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Seller influence:</a:t>
            </a:r>
            <a:r>
              <a:rPr lang="en-US" sz="1100">
                <a:solidFill>
                  <a:schemeClr val="dk1"/>
                </a:solidFill>
              </a:rPr>
              <a:t> Sellers may improve their chances of being selected by changing product descriptions to appeal to AI agents.</a:t>
            </a:r>
            <a:endParaRPr b="1" sz="1100">
              <a:solidFill>
                <a:schemeClr val="dk1"/>
              </a:solidFill>
            </a:endParaRPr>
          </a:p>
          <a:p>
            <a:pPr indent="0" lvl="0" marL="0" rtl="0" algn="l">
              <a:spcBef>
                <a:spcPts val="120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Evidence sources:</a:t>
            </a:r>
            <a:endParaRPr/>
          </a:p>
          <a:p>
            <a:pPr indent="0" lvl="0" marL="0" rtl="0" algn="l">
              <a:spcBef>
                <a:spcPts val="0"/>
              </a:spcBef>
              <a:spcAft>
                <a:spcPts val="0"/>
              </a:spcAft>
              <a:buNone/>
            </a:pPr>
            <a:r>
              <a:rPr lang="en-US" sz="1200"/>
              <a:t>Khamesian et al. (2025), NutriGen: https://arxiv.org/abs/2502.20601</a:t>
            </a:r>
            <a:endParaRPr/>
          </a:p>
          <a:p>
            <a:pPr indent="0" lvl="0" marL="0" rtl="0" algn="l">
              <a:spcBef>
                <a:spcPts val="0"/>
              </a:spcBef>
              <a:spcAft>
                <a:spcPts val="0"/>
              </a:spcAft>
              <a:buNone/>
            </a:pPr>
            <a:r>
              <a:rPr lang="en-US" sz="1200"/>
              <a:t>Papastratis et al. (2024), AI nutrition recommendation using a deep generative model and ChatGPT: https://doi.org/10.1038/s41598-024-65438-x</a:t>
            </a:r>
            <a:endParaRPr/>
          </a:p>
          <a:p>
            <a:pPr indent="0" lvl="0" marL="0" rtl="0" algn="l">
              <a:spcBef>
                <a:spcPts val="0"/>
              </a:spcBef>
              <a:spcAft>
                <a:spcPts val="0"/>
              </a:spcAft>
              <a:buNone/>
            </a:pPr>
            <a:r>
              <a:rPr lang="en-US" sz="1200"/>
              <a:t>Yang et al. (2025), Behavioral science-informed agentic workflow: https://formative.jmir.org/2025/1/e75421</a:t>
            </a:r>
            <a:endParaRPr/>
          </a:p>
          <a:p>
            <a:pPr indent="0" lvl="0" marL="0" rtl="0" algn="l">
              <a:spcBef>
                <a:spcPts val="0"/>
              </a:spcBef>
              <a:spcAft>
                <a:spcPts val="0"/>
              </a:spcAft>
              <a:buNone/>
            </a:pPr>
            <a:r>
              <a:rPr lang="en-US" sz="1200"/>
              <a:t>Tou et al. (2025), ShoppingComp: https://arxiv.org/abs/2511.22978</a:t>
            </a:r>
            <a:endParaRPr/>
          </a:p>
          <a:p>
            <a:pPr indent="0" lvl="0" marL="0" rtl="0" algn="l">
              <a:spcBef>
                <a:spcPts val="0"/>
              </a:spcBef>
              <a:spcAft>
                <a:spcPts val="0"/>
              </a:spcAft>
              <a:buNone/>
            </a:pPr>
            <a:r>
              <a:rPr lang="en-US" sz="1200"/>
              <a:t>Allouah et al. (2025), What Is Your AI Agent Buying?: https://arxiv.org/abs/2508.02630</a:t>
            </a:r>
            <a:endParaRPr/>
          </a:p>
        </p:txBody>
      </p:sp>
      <p:sp>
        <p:nvSpPr>
          <p:cNvPr id="115" name="Google Shape;115;g3fb93a4f1c7_0_4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409fac96231_5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409fac96231_5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For things like cost, nutrition numbers, ingredient reuse, and food waste, we can use proper optimization and verified data. We don’t want the LLM randomly doing calculations that we can validate in a much more reliable way.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Then we move to </a:t>
            </a:r>
            <a:r>
              <a:rPr b="1" lang="en-US" sz="1100">
                <a:solidFill>
                  <a:schemeClr val="dk1"/>
                </a:solidFill>
              </a:rPr>
              <a:t>shopping</a:t>
            </a:r>
            <a:r>
              <a:rPr lang="en-US" sz="1100">
                <a:solidFill>
                  <a:schemeClr val="dk1"/>
                </a:solidFill>
              </a:rPr>
              <a:t>. The system can take that optimized plan and turn it into a grocery cart.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But again — </a:t>
            </a:r>
            <a:r>
              <a:rPr b="1" lang="en-US" sz="1100">
                <a:solidFill>
                  <a:schemeClr val="dk1"/>
                </a:solidFill>
              </a:rPr>
              <a:t>does the AI just buy everything automatically?</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No. The user still reviews and approves the cart.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Then comes probably the most important part — </a:t>
            </a:r>
            <a:r>
              <a:rPr b="1" lang="en-US" sz="1100">
                <a:solidFill>
                  <a:schemeClr val="dk1"/>
                </a:solidFill>
              </a:rPr>
              <a:t>Eat, Track, Learn, and Adapt.</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Because what if I give you seven meals and you consistently skip three of them?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 shouldn’t give you the same type of plan again next week.</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So instead of assuming that the user followed everything, we look at what they actually ate, skipped, or changed, and that information goes back into the next week's plan.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So where is GenAI actually essential here?</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Mainly in understanding the user.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 user doesn't have to select twenty filters. They can simply say, </a:t>
            </a:r>
            <a:r>
              <a:rPr i="1" lang="en-US" sz="1100">
                <a:solidFill>
                  <a:schemeClr val="dk1"/>
                </a:solidFill>
              </a:rPr>
              <a:t>‘Next week I'm really busy, make my meals quicker and cheaper.’</a:t>
            </a:r>
            <a:endParaRPr i="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GenAI can understand that request along with their existing preferences and constraints.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And because there are so many different things happening here, we're also looking at </a:t>
            </a:r>
            <a:r>
              <a:rPr b="1" lang="en-US" sz="1100">
                <a:solidFill>
                  <a:schemeClr val="dk1"/>
                </a:solidFill>
              </a:rPr>
              <a:t>specialized agents</a:t>
            </a:r>
            <a:r>
              <a:rPr lang="en-US" sz="1100">
                <a:solidFill>
                  <a:schemeClr val="dk1"/>
                </a:solidFill>
              </a:rPr>
              <a:t> instead of making one prompt do everything.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So basically, the system doesn't just generate a meal plan once.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It plans, sees what happened, learns from it, and then adapts the next plan.</a:t>
            </a:r>
            <a:r>
              <a:rPr lang="en-US" sz="1100">
                <a:solidFill>
                  <a:schemeClr val="dk1"/>
                </a:solidFill>
              </a:rPr>
              <a:t>”</a:t>
            </a:r>
            <a:endParaRPr sz="1100">
              <a:solidFill>
                <a:schemeClr val="dk1"/>
              </a:solidFill>
            </a:endParaRPr>
          </a:p>
          <a:p>
            <a:pPr indent="0" lvl="0" marL="0" rtl="0" algn="l">
              <a:spcBef>
                <a:spcPts val="1200"/>
              </a:spcBef>
              <a:spcAft>
                <a:spcPts val="0"/>
              </a:spcAft>
              <a:buClr>
                <a:schemeClr val="dk1"/>
              </a:buClr>
              <a:buSzPts val="14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45" name="Google Shape;14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409fac96231_4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409fac96231_42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x">
  <p:cSld name="TITLE_AND_BODY">
    <p:spTree>
      <p:nvGrpSpPr>
        <p:cNvPr id="9" name="Shape 9"/>
        <p:cNvGrpSpPr/>
        <p:nvPr/>
      </p:nvGrpSpPr>
      <p:grpSpPr>
        <a:xfrm>
          <a:off x="0" y="0"/>
          <a:ext cx="0" cy="0"/>
          <a:chOff x="0" y="0"/>
          <a:chExt cx="0" cy="0"/>
        </a:xfrm>
      </p:grpSpPr>
      <p:sp>
        <p:nvSpPr>
          <p:cNvPr id="10" name="Google Shape;10;p2"/>
          <p:cNvSpPr txBox="1"/>
          <p:nvPr>
            <p:ph idx="12" type="sldNum"/>
          </p:nvPr>
        </p:nvSpPr>
        <p:spPr>
          <a:xfrm>
            <a:off x="5892800" y="6172200"/>
            <a:ext cx="2844800" cy="368300"/>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09600" y="92075"/>
            <a:ext cx="10972800" cy="1508125"/>
          </a:xfrm>
          <a:prstGeom prst="rect">
            <a:avLst/>
          </a:prstGeom>
          <a:noFill/>
          <a:ln>
            <a:noFill/>
          </a:ln>
        </p:spPr>
        <p:txBody>
          <a:bodyPr anchorCtr="0" anchor="ctr" bIns="45700" lIns="45700" spcFirstLastPara="1" rIns="45700" wrap="square" tIns="45700">
            <a:noAutofit/>
          </a:bodyPr>
          <a:lstStyle>
            <a:lvl1pPr lvl="0"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609600" y="1600200"/>
            <a:ext cx="10972800" cy="5257800"/>
          </a:xfrm>
          <a:prstGeom prst="rect">
            <a:avLst/>
          </a:prstGeom>
          <a:noFill/>
          <a:ln>
            <a:noFill/>
          </a:ln>
        </p:spPr>
        <p:txBody>
          <a:bodyPr anchorCtr="0" anchor="t" bIns="45700" lIns="45700" spcFirstLastPara="1" rIns="45700" wrap="square" tIns="45700">
            <a:noAutofit/>
          </a:bodyPr>
          <a:lstStyle>
            <a:lvl1pPr indent="-431800" lvl="0" marL="457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31800" lvl="1" marL="914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2pPr>
            <a:lvl3pPr indent="-431800" lvl="2" marL="1371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3pPr>
            <a:lvl4pPr indent="-431800" lvl="3" marL="1828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4pPr>
            <a:lvl5pPr indent="-431800" lvl="4" marL="22860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5pPr>
            <a:lvl6pPr indent="-431800" lvl="5" marL="2743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6pPr>
            <a:lvl7pPr indent="-431800" lvl="6" marL="3200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7pPr>
            <a:lvl8pPr indent="-431800" lvl="7" marL="3657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8pPr>
            <a:lvl9pPr indent="-431800" lvl="8" marL="4114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9pPr>
          </a:lstStyle>
          <a:p/>
        </p:txBody>
      </p:sp>
      <p:sp>
        <p:nvSpPr>
          <p:cNvPr id="8" name="Google Shape;8;p1"/>
          <p:cNvSpPr txBox="1"/>
          <p:nvPr>
            <p:ph idx="12" type="sldNum"/>
          </p:nvPr>
        </p:nvSpPr>
        <p:spPr>
          <a:xfrm>
            <a:off x="5892800" y="6172200"/>
            <a:ext cx="2844800" cy="368300"/>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1D"/>
        </a:solidFill>
      </p:bgPr>
    </p:bg>
    <p:spTree>
      <p:nvGrpSpPr>
        <p:cNvPr id="15" name="Shape 15"/>
        <p:cNvGrpSpPr/>
        <p:nvPr/>
      </p:nvGrpSpPr>
      <p:grpSpPr>
        <a:xfrm>
          <a:off x="0" y="0"/>
          <a:ext cx="0" cy="0"/>
          <a:chOff x="0" y="0"/>
          <a:chExt cx="0" cy="0"/>
        </a:xfrm>
      </p:grpSpPr>
      <p:sp>
        <p:nvSpPr>
          <p:cNvPr id="16" name="Google Shape;16;p4"/>
          <p:cNvSpPr txBox="1"/>
          <p:nvPr/>
        </p:nvSpPr>
        <p:spPr>
          <a:xfrm>
            <a:off x="654050" y="1598612"/>
            <a:ext cx="10883900" cy="238125"/>
          </a:xfrm>
          <a:prstGeom prst="rect">
            <a:avLst/>
          </a:prstGeom>
          <a:noFill/>
          <a:ln>
            <a:noFill/>
          </a:ln>
        </p:spPr>
        <p:txBody>
          <a:bodyPr anchorCtr="0" anchor="t" bIns="0" lIns="0" spcFirstLastPara="1" rIns="0" wrap="square" tIns="0">
            <a:normAutofit lnSpcReduction="10000"/>
          </a:bodyPr>
          <a:lstStyle/>
          <a:p>
            <a:pPr indent="0" lvl="0" marL="0" marR="0" rtl="0" algn="l">
              <a:lnSpc>
                <a:spcPct val="84210"/>
              </a:lnSpc>
              <a:spcBef>
                <a:spcPts val="0"/>
              </a:spcBef>
              <a:spcAft>
                <a:spcPts val="0"/>
              </a:spcAft>
              <a:buClr>
                <a:srgbClr val="D98B54"/>
              </a:buClr>
              <a:buSzPts val="1900"/>
              <a:buFont typeface="IBM Plex Sans"/>
              <a:buNone/>
            </a:pPr>
            <a:r>
              <a:rPr b="1" i="0" lang="en-US" sz="2100" u="none" cap="none" strike="noStrike">
                <a:solidFill>
                  <a:srgbClr val="D98B54"/>
                </a:solidFill>
                <a:latin typeface="Times New Roman"/>
                <a:ea typeface="Times New Roman"/>
                <a:cs typeface="Times New Roman"/>
                <a:sym typeface="Times New Roman"/>
              </a:rPr>
              <a:t>CHECKPOINT 1</a:t>
            </a:r>
            <a:endParaRPr sz="1600">
              <a:latin typeface="Times New Roman"/>
              <a:ea typeface="Times New Roman"/>
              <a:cs typeface="Times New Roman"/>
              <a:sym typeface="Times New Roman"/>
            </a:endParaRPr>
          </a:p>
        </p:txBody>
      </p:sp>
      <p:sp>
        <p:nvSpPr>
          <p:cNvPr id="17" name="Google Shape;17;p4"/>
          <p:cNvSpPr txBox="1"/>
          <p:nvPr/>
        </p:nvSpPr>
        <p:spPr>
          <a:xfrm>
            <a:off x="631825" y="2209800"/>
            <a:ext cx="10137775" cy="1422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3EFE4"/>
              </a:buClr>
              <a:buSzPts val="5000"/>
              <a:buFont typeface="Source Serif 4"/>
              <a:buNone/>
            </a:pPr>
            <a:r>
              <a:rPr b="1" i="0" lang="en-US" sz="5200" u="none" cap="none" strike="noStrike">
                <a:solidFill>
                  <a:srgbClr val="F3EFE4"/>
                </a:solidFill>
                <a:latin typeface="Times New Roman"/>
                <a:ea typeface="Times New Roman"/>
                <a:cs typeface="Times New Roman"/>
                <a:sym typeface="Times New Roman"/>
              </a:rPr>
              <a:t>Prompt</a:t>
            </a:r>
            <a:r>
              <a:rPr b="1" i="0" lang="en-US" sz="5200" u="none" cap="none" strike="noStrike">
                <a:solidFill>
                  <a:srgbClr val="F3EFE4"/>
                </a:solidFill>
                <a:latin typeface="Times New Roman"/>
                <a:ea typeface="Times New Roman"/>
                <a:cs typeface="Times New Roman"/>
                <a:sym typeface="Times New Roman"/>
              </a:rPr>
              <a:t>-to-</a:t>
            </a:r>
            <a:r>
              <a:rPr b="1" i="0" lang="en-US" sz="5200" u="none" cap="none" strike="noStrike">
                <a:solidFill>
                  <a:srgbClr val="F3EFE4"/>
                </a:solidFill>
                <a:latin typeface="Times New Roman"/>
                <a:ea typeface="Times New Roman"/>
                <a:cs typeface="Times New Roman"/>
                <a:sym typeface="Times New Roman"/>
              </a:rPr>
              <a:t>Plate</a:t>
            </a:r>
            <a:endParaRPr sz="1600">
              <a:latin typeface="Times New Roman"/>
              <a:ea typeface="Times New Roman"/>
              <a:cs typeface="Times New Roman"/>
              <a:sym typeface="Times New Roman"/>
            </a:endParaRPr>
          </a:p>
        </p:txBody>
      </p:sp>
      <p:sp>
        <p:nvSpPr>
          <p:cNvPr id="18" name="Google Shape;18;p4"/>
          <p:cNvSpPr/>
          <p:nvPr/>
        </p:nvSpPr>
        <p:spPr>
          <a:xfrm>
            <a:off x="654050" y="4005275"/>
            <a:ext cx="2963700" cy="1286100"/>
          </a:xfrm>
          <a:prstGeom prst="roundRect">
            <a:avLst>
              <a:gd fmla="val 2480" name="adj"/>
            </a:avLst>
          </a:prstGeom>
          <a:solidFill>
            <a:srgbClr val="28361F"/>
          </a:solidFill>
          <a:ln cap="flat" cmpd="sng" w="11950">
            <a:solidFill>
              <a:srgbClr val="3A4A32"/>
            </a:solidFill>
            <a:prstDash val="solid"/>
            <a:miter lim="8000"/>
            <a:headEnd len="sm" w="sm" type="none"/>
            <a:tailEnd len="sm" w="sm" type="none"/>
          </a:ln>
        </p:spPr>
        <p:txBody>
          <a:bodyPr anchorCtr="0" anchor="t" bIns="57375" lIns="57375" spcFirstLastPara="1" rIns="57375" wrap="square" tIns="57375">
            <a:noAutofit/>
          </a:bodyPr>
          <a:lstStyle/>
          <a:p>
            <a:pPr indent="0" lvl="0" marL="0" marR="0" rtl="0" algn="l">
              <a:lnSpc>
                <a:spcPct val="100000"/>
              </a:lnSpc>
              <a:spcBef>
                <a:spcPts val="0"/>
              </a:spcBef>
              <a:spcAft>
                <a:spcPts val="0"/>
              </a:spcAft>
              <a:buNone/>
            </a:pPr>
            <a:r>
              <a:t/>
            </a:r>
            <a:endParaRPr i="0" sz="2511" u="none">
              <a:solidFill>
                <a:srgbClr val="000000"/>
              </a:solidFill>
              <a:latin typeface="Times New Roman"/>
              <a:ea typeface="Times New Roman"/>
              <a:cs typeface="Times New Roman"/>
              <a:sym typeface="Times New Roman"/>
            </a:endParaRPr>
          </a:p>
        </p:txBody>
      </p:sp>
      <p:sp>
        <p:nvSpPr>
          <p:cNvPr id="19" name="Google Shape;19;p4"/>
          <p:cNvSpPr txBox="1"/>
          <p:nvPr/>
        </p:nvSpPr>
        <p:spPr>
          <a:xfrm>
            <a:off x="730606" y="4232521"/>
            <a:ext cx="2262300" cy="3210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3EFE4"/>
              </a:buClr>
              <a:buSzPts val="1632"/>
              <a:buFont typeface="IBM Plex Sans"/>
              <a:buNone/>
            </a:pPr>
            <a:r>
              <a:rPr b="1" i="0" lang="en-US" sz="1884" u="none">
                <a:solidFill>
                  <a:srgbClr val="F3EFE4"/>
                </a:solidFill>
                <a:latin typeface="Times New Roman"/>
                <a:ea typeface="Times New Roman"/>
                <a:cs typeface="Times New Roman"/>
                <a:sym typeface="Times New Roman"/>
              </a:rPr>
              <a:t>Chantrice Santiago</a:t>
            </a:r>
            <a:endParaRPr sz="2009">
              <a:latin typeface="Times New Roman"/>
              <a:ea typeface="Times New Roman"/>
              <a:cs typeface="Times New Roman"/>
              <a:sym typeface="Times New Roman"/>
            </a:endParaRPr>
          </a:p>
        </p:txBody>
      </p:sp>
      <p:sp>
        <p:nvSpPr>
          <p:cNvPr id="20" name="Google Shape;20;p4"/>
          <p:cNvSpPr txBox="1"/>
          <p:nvPr/>
        </p:nvSpPr>
        <p:spPr>
          <a:xfrm>
            <a:off x="730588" y="4585336"/>
            <a:ext cx="3381000" cy="2991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08F"/>
              </a:buClr>
              <a:buSzPts val="1507"/>
              <a:buFont typeface="IBM Plex Sans"/>
              <a:buNone/>
            </a:pPr>
            <a:r>
              <a:rPr lang="en-US" sz="1632">
                <a:solidFill>
                  <a:srgbClr val="9FB08F"/>
                </a:solidFill>
                <a:latin typeface="Times New Roman"/>
                <a:ea typeface="Times New Roman"/>
                <a:cs typeface="Times New Roman"/>
                <a:sym typeface="Times New Roman"/>
              </a:rPr>
              <a:t>Multi-Agent Research &amp; Documentation</a:t>
            </a:r>
            <a:endParaRPr sz="1884">
              <a:latin typeface="Times New Roman"/>
              <a:ea typeface="Times New Roman"/>
              <a:cs typeface="Times New Roman"/>
              <a:sym typeface="Times New Roman"/>
            </a:endParaRPr>
          </a:p>
        </p:txBody>
      </p:sp>
      <p:sp>
        <p:nvSpPr>
          <p:cNvPr id="21" name="Google Shape;21;p4"/>
          <p:cNvSpPr/>
          <p:nvPr/>
        </p:nvSpPr>
        <p:spPr>
          <a:xfrm>
            <a:off x="3775625" y="4005275"/>
            <a:ext cx="2505300" cy="1286100"/>
          </a:xfrm>
          <a:prstGeom prst="roundRect">
            <a:avLst>
              <a:gd fmla="val 2480" name="adj"/>
            </a:avLst>
          </a:prstGeom>
          <a:solidFill>
            <a:srgbClr val="28361F"/>
          </a:solidFill>
          <a:ln cap="flat" cmpd="sng" w="11950">
            <a:solidFill>
              <a:srgbClr val="3A4A32"/>
            </a:solidFill>
            <a:prstDash val="solid"/>
            <a:miter lim="8000"/>
            <a:headEnd len="sm" w="sm" type="none"/>
            <a:tailEnd len="sm" w="sm" type="none"/>
          </a:ln>
        </p:spPr>
        <p:txBody>
          <a:bodyPr anchorCtr="0" anchor="t" bIns="57375" lIns="57375" spcFirstLastPara="1" rIns="57375" wrap="square" tIns="57375">
            <a:noAutofit/>
          </a:bodyPr>
          <a:lstStyle/>
          <a:p>
            <a:pPr indent="0" lvl="0" marL="0" marR="0" rtl="0" algn="l">
              <a:lnSpc>
                <a:spcPct val="100000"/>
              </a:lnSpc>
              <a:spcBef>
                <a:spcPts val="0"/>
              </a:spcBef>
              <a:spcAft>
                <a:spcPts val="0"/>
              </a:spcAft>
              <a:buNone/>
            </a:pPr>
            <a:r>
              <a:t/>
            </a:r>
            <a:endParaRPr i="0" sz="2511" u="none">
              <a:solidFill>
                <a:srgbClr val="000000"/>
              </a:solidFill>
              <a:latin typeface="Times New Roman"/>
              <a:ea typeface="Times New Roman"/>
              <a:cs typeface="Times New Roman"/>
              <a:sym typeface="Times New Roman"/>
            </a:endParaRPr>
          </a:p>
        </p:txBody>
      </p:sp>
      <p:sp>
        <p:nvSpPr>
          <p:cNvPr id="22" name="Google Shape;22;p4"/>
          <p:cNvSpPr txBox="1"/>
          <p:nvPr/>
        </p:nvSpPr>
        <p:spPr>
          <a:xfrm>
            <a:off x="3930266" y="4232521"/>
            <a:ext cx="2262300" cy="3210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3EFE4"/>
              </a:buClr>
              <a:buSzPts val="1632"/>
              <a:buFont typeface="IBM Plex Sans"/>
              <a:buNone/>
            </a:pPr>
            <a:r>
              <a:rPr b="1" i="0" lang="en-US" sz="1884" u="none">
                <a:solidFill>
                  <a:srgbClr val="F3EFE4"/>
                </a:solidFill>
                <a:latin typeface="Times New Roman"/>
                <a:ea typeface="Times New Roman"/>
                <a:cs typeface="Times New Roman"/>
                <a:sym typeface="Times New Roman"/>
              </a:rPr>
              <a:t>Kanishka Gupta</a:t>
            </a:r>
            <a:endParaRPr sz="2009">
              <a:latin typeface="Times New Roman"/>
              <a:ea typeface="Times New Roman"/>
              <a:cs typeface="Times New Roman"/>
              <a:sym typeface="Times New Roman"/>
            </a:endParaRPr>
          </a:p>
        </p:txBody>
      </p:sp>
      <p:sp>
        <p:nvSpPr>
          <p:cNvPr id="23" name="Google Shape;23;p4"/>
          <p:cNvSpPr txBox="1"/>
          <p:nvPr/>
        </p:nvSpPr>
        <p:spPr>
          <a:xfrm>
            <a:off x="3930266" y="4585350"/>
            <a:ext cx="2262300" cy="300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08F"/>
              </a:buClr>
              <a:buSzPts val="1507"/>
              <a:buFont typeface="IBM Plex Sans"/>
              <a:buNone/>
            </a:pPr>
            <a:r>
              <a:rPr lang="en-US" sz="1758">
                <a:solidFill>
                  <a:srgbClr val="9FB08F"/>
                </a:solidFill>
                <a:latin typeface="Times New Roman"/>
                <a:ea typeface="Times New Roman"/>
                <a:cs typeface="Times New Roman"/>
                <a:sym typeface="Times New Roman"/>
              </a:rPr>
              <a:t>Technical Research &amp; Feasibility</a:t>
            </a:r>
            <a:endParaRPr sz="2009">
              <a:latin typeface="Times New Roman"/>
              <a:ea typeface="Times New Roman"/>
              <a:cs typeface="Times New Roman"/>
              <a:sym typeface="Times New Roman"/>
            </a:endParaRPr>
          </a:p>
        </p:txBody>
      </p:sp>
      <p:sp>
        <p:nvSpPr>
          <p:cNvPr id="24" name="Google Shape;24;p4"/>
          <p:cNvSpPr/>
          <p:nvPr/>
        </p:nvSpPr>
        <p:spPr>
          <a:xfrm>
            <a:off x="6439025" y="4005275"/>
            <a:ext cx="2505300" cy="1286100"/>
          </a:xfrm>
          <a:prstGeom prst="roundRect">
            <a:avLst>
              <a:gd fmla="val 2480" name="adj"/>
            </a:avLst>
          </a:prstGeom>
          <a:solidFill>
            <a:srgbClr val="28361F"/>
          </a:solidFill>
          <a:ln cap="flat" cmpd="sng" w="11950">
            <a:solidFill>
              <a:srgbClr val="3A4A32"/>
            </a:solidFill>
            <a:prstDash val="solid"/>
            <a:miter lim="8000"/>
            <a:headEnd len="sm" w="sm" type="none"/>
            <a:tailEnd len="sm" w="sm" type="none"/>
          </a:ln>
        </p:spPr>
        <p:txBody>
          <a:bodyPr anchorCtr="0" anchor="t" bIns="57375" lIns="57375" spcFirstLastPara="1" rIns="57375" wrap="square" tIns="57375">
            <a:noAutofit/>
          </a:bodyPr>
          <a:lstStyle/>
          <a:p>
            <a:pPr indent="0" lvl="0" marL="0" marR="0" rtl="0" algn="l">
              <a:lnSpc>
                <a:spcPct val="100000"/>
              </a:lnSpc>
              <a:spcBef>
                <a:spcPts val="0"/>
              </a:spcBef>
              <a:spcAft>
                <a:spcPts val="0"/>
              </a:spcAft>
              <a:buNone/>
            </a:pPr>
            <a:r>
              <a:t/>
            </a:r>
            <a:endParaRPr i="0" sz="2511" u="none">
              <a:solidFill>
                <a:srgbClr val="000000"/>
              </a:solidFill>
              <a:latin typeface="Times New Roman"/>
              <a:ea typeface="Times New Roman"/>
              <a:cs typeface="Times New Roman"/>
              <a:sym typeface="Times New Roman"/>
            </a:endParaRPr>
          </a:p>
        </p:txBody>
      </p:sp>
      <p:sp>
        <p:nvSpPr>
          <p:cNvPr id="25" name="Google Shape;25;p4"/>
          <p:cNvSpPr txBox="1"/>
          <p:nvPr/>
        </p:nvSpPr>
        <p:spPr>
          <a:xfrm>
            <a:off x="6593659" y="4232521"/>
            <a:ext cx="2262300" cy="3210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3EFE4"/>
              </a:buClr>
              <a:buSzPts val="1632"/>
              <a:buFont typeface="IBM Plex Sans"/>
              <a:buNone/>
            </a:pPr>
            <a:r>
              <a:rPr b="1" i="0" lang="en-US" sz="1884" u="none">
                <a:solidFill>
                  <a:srgbClr val="F3EFE4"/>
                </a:solidFill>
                <a:latin typeface="Times New Roman"/>
                <a:ea typeface="Times New Roman"/>
                <a:cs typeface="Times New Roman"/>
                <a:sym typeface="Times New Roman"/>
              </a:rPr>
              <a:t>Sneha Vyas</a:t>
            </a:r>
            <a:endParaRPr sz="2009">
              <a:latin typeface="Times New Roman"/>
              <a:ea typeface="Times New Roman"/>
              <a:cs typeface="Times New Roman"/>
              <a:sym typeface="Times New Roman"/>
            </a:endParaRPr>
          </a:p>
        </p:txBody>
      </p:sp>
      <p:sp>
        <p:nvSpPr>
          <p:cNvPr id="26" name="Google Shape;26;p4"/>
          <p:cNvSpPr txBox="1"/>
          <p:nvPr/>
        </p:nvSpPr>
        <p:spPr>
          <a:xfrm>
            <a:off x="6593659" y="4585350"/>
            <a:ext cx="2262300" cy="300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08F"/>
              </a:buClr>
              <a:buSzPts val="1507"/>
              <a:buFont typeface="IBM Plex Sans"/>
              <a:buNone/>
            </a:pPr>
            <a:r>
              <a:rPr lang="en-US" sz="1758">
                <a:solidFill>
                  <a:srgbClr val="9FB08F"/>
                </a:solidFill>
                <a:latin typeface="Times New Roman"/>
                <a:ea typeface="Times New Roman"/>
                <a:cs typeface="Times New Roman"/>
                <a:sym typeface="Times New Roman"/>
              </a:rPr>
              <a:t>Nutrition &amp; Product Research</a:t>
            </a:r>
            <a:endParaRPr sz="2009">
              <a:latin typeface="Times New Roman"/>
              <a:ea typeface="Times New Roman"/>
              <a:cs typeface="Times New Roman"/>
              <a:sym typeface="Times New Roman"/>
            </a:endParaRPr>
          </a:p>
        </p:txBody>
      </p:sp>
      <p:sp>
        <p:nvSpPr>
          <p:cNvPr id="27" name="Google Shape;27;p4"/>
          <p:cNvSpPr/>
          <p:nvPr/>
        </p:nvSpPr>
        <p:spPr>
          <a:xfrm>
            <a:off x="9102425" y="4005275"/>
            <a:ext cx="2505300" cy="1286100"/>
          </a:xfrm>
          <a:prstGeom prst="roundRect">
            <a:avLst>
              <a:gd fmla="val 2480" name="adj"/>
            </a:avLst>
          </a:prstGeom>
          <a:solidFill>
            <a:srgbClr val="28361F"/>
          </a:solidFill>
          <a:ln cap="flat" cmpd="sng" w="11950">
            <a:solidFill>
              <a:srgbClr val="3A4A32"/>
            </a:solidFill>
            <a:prstDash val="solid"/>
            <a:miter lim="8000"/>
            <a:headEnd len="sm" w="sm" type="none"/>
            <a:tailEnd len="sm" w="sm" type="none"/>
          </a:ln>
        </p:spPr>
        <p:txBody>
          <a:bodyPr anchorCtr="0" anchor="t" bIns="57375" lIns="57375" spcFirstLastPara="1" rIns="57375" wrap="square" tIns="57375">
            <a:noAutofit/>
          </a:bodyPr>
          <a:lstStyle/>
          <a:p>
            <a:pPr indent="0" lvl="0" marL="0" marR="0" rtl="0" algn="l">
              <a:lnSpc>
                <a:spcPct val="100000"/>
              </a:lnSpc>
              <a:spcBef>
                <a:spcPts val="0"/>
              </a:spcBef>
              <a:spcAft>
                <a:spcPts val="0"/>
              </a:spcAft>
              <a:buNone/>
            </a:pPr>
            <a:r>
              <a:t/>
            </a:r>
            <a:endParaRPr i="0" sz="2511" u="none">
              <a:solidFill>
                <a:srgbClr val="000000"/>
              </a:solidFill>
              <a:latin typeface="Times New Roman"/>
              <a:ea typeface="Times New Roman"/>
              <a:cs typeface="Times New Roman"/>
              <a:sym typeface="Times New Roman"/>
            </a:endParaRPr>
          </a:p>
        </p:txBody>
      </p:sp>
      <p:sp>
        <p:nvSpPr>
          <p:cNvPr id="28" name="Google Shape;28;p4"/>
          <p:cNvSpPr txBox="1"/>
          <p:nvPr/>
        </p:nvSpPr>
        <p:spPr>
          <a:xfrm>
            <a:off x="9257051" y="4232521"/>
            <a:ext cx="2262300" cy="3210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3EFE4"/>
              </a:buClr>
              <a:buSzPts val="1632"/>
              <a:buFont typeface="IBM Plex Sans"/>
              <a:buNone/>
            </a:pPr>
            <a:r>
              <a:rPr b="1" i="0" lang="en-US" sz="1884" u="none">
                <a:solidFill>
                  <a:srgbClr val="F3EFE4"/>
                </a:solidFill>
                <a:latin typeface="Times New Roman"/>
                <a:ea typeface="Times New Roman"/>
                <a:cs typeface="Times New Roman"/>
                <a:sym typeface="Times New Roman"/>
              </a:rPr>
              <a:t>Srinath Venkatesh</a:t>
            </a:r>
            <a:endParaRPr sz="2009">
              <a:latin typeface="Times New Roman"/>
              <a:ea typeface="Times New Roman"/>
              <a:cs typeface="Times New Roman"/>
              <a:sym typeface="Times New Roman"/>
            </a:endParaRPr>
          </a:p>
        </p:txBody>
      </p:sp>
      <p:sp>
        <p:nvSpPr>
          <p:cNvPr id="29" name="Google Shape;29;p4"/>
          <p:cNvSpPr txBox="1"/>
          <p:nvPr/>
        </p:nvSpPr>
        <p:spPr>
          <a:xfrm>
            <a:off x="9257051" y="4585350"/>
            <a:ext cx="2262300" cy="300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08F"/>
              </a:buClr>
              <a:buSzPts val="1507"/>
              <a:buFont typeface="IBM Plex Sans"/>
              <a:buNone/>
            </a:pPr>
            <a:r>
              <a:rPr lang="en-US" sz="1758">
                <a:solidFill>
                  <a:srgbClr val="9FB08F"/>
                </a:solidFill>
                <a:latin typeface="Times New Roman"/>
                <a:ea typeface="Times New Roman"/>
                <a:cs typeface="Times New Roman"/>
                <a:sym typeface="Times New Roman"/>
              </a:rPr>
              <a:t>AI Shopping &amp; Market Research</a:t>
            </a:r>
            <a:endParaRPr sz="2009">
              <a:latin typeface="Times New Roman"/>
              <a:ea typeface="Times New Roman"/>
              <a:cs typeface="Times New Roman"/>
              <a:sym typeface="Times New Roman"/>
            </a:endParaRPr>
          </a:p>
        </p:txBody>
      </p:sp>
      <p:sp>
        <p:nvSpPr>
          <p:cNvPr id="30" name="Google Shape;30;p4"/>
          <p:cNvSpPr txBox="1"/>
          <p:nvPr/>
        </p:nvSpPr>
        <p:spPr>
          <a:xfrm>
            <a:off x="654050" y="5487225"/>
            <a:ext cx="10817700" cy="2991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8FA085"/>
              </a:buClr>
              <a:buSzPts val="1507"/>
              <a:buFont typeface="IBM Plex Sans"/>
              <a:buNone/>
            </a:pPr>
            <a:r>
              <a:rPr i="0" lang="en-US" sz="2137" u="none">
                <a:solidFill>
                  <a:srgbClr val="FCFAF5"/>
                </a:solidFill>
                <a:latin typeface="Times New Roman"/>
                <a:ea typeface="Times New Roman"/>
                <a:cs typeface="Times New Roman"/>
                <a:sym typeface="Times New Roman"/>
              </a:rPr>
              <a:t>Repository: https://github.com/srinathvenkatesh25/genai-capstone-project.git</a:t>
            </a:r>
            <a:endParaRPr sz="2388">
              <a:solidFill>
                <a:srgbClr val="FCFAF5"/>
              </a:solidFill>
              <a:latin typeface="Times New Roman"/>
              <a:ea typeface="Times New Roman"/>
              <a:cs typeface="Times New Roman"/>
              <a:sym typeface="Times New Roman"/>
            </a:endParaRPr>
          </a:p>
        </p:txBody>
      </p:sp>
      <p:sp>
        <p:nvSpPr>
          <p:cNvPr id="31" name="Google Shape;31;p4"/>
          <p:cNvSpPr txBox="1"/>
          <p:nvPr/>
        </p:nvSpPr>
        <p:spPr>
          <a:xfrm>
            <a:off x="642915" y="2997200"/>
            <a:ext cx="10523100" cy="415500"/>
          </a:xfrm>
          <a:prstGeom prst="rect">
            <a:avLst/>
          </a:prstGeom>
          <a:noFill/>
          <a:ln>
            <a:noFill/>
          </a:ln>
        </p:spPr>
        <p:txBody>
          <a:bodyPr anchorCtr="0" anchor="t" bIns="45700" lIns="45700" spcFirstLastPara="1" rIns="45700" wrap="square" tIns="45700">
            <a:spAutoFit/>
          </a:bodyPr>
          <a:lstStyle/>
          <a:p>
            <a:pPr indent="0" lvl="0" marL="0" marR="0" rtl="0" algn="l">
              <a:lnSpc>
                <a:spcPct val="138461"/>
              </a:lnSpc>
              <a:spcBef>
                <a:spcPts val="0"/>
              </a:spcBef>
              <a:spcAft>
                <a:spcPts val="0"/>
              </a:spcAft>
              <a:buClr>
                <a:srgbClr val="F3EFE4"/>
              </a:buClr>
              <a:buSzPts val="1300"/>
              <a:buFont typeface="IBM Plex Sans"/>
              <a:buNone/>
            </a:pPr>
            <a:r>
              <a:rPr b="1" i="0" lang="en-US" sz="2100" u="none">
                <a:solidFill>
                  <a:srgbClr val="F3EFE4"/>
                </a:solidFill>
                <a:latin typeface="Times New Roman"/>
                <a:ea typeface="Times New Roman"/>
                <a:cs typeface="Times New Roman"/>
                <a:sym typeface="Times New Roman"/>
              </a:rPr>
              <a:t>An agent AI Platform for Instant Meal Planning and Grocery Automation</a:t>
            </a:r>
            <a:endParaRPr sz="22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35" name="Shape 35"/>
        <p:cNvGrpSpPr/>
        <p:nvPr/>
      </p:nvGrpSpPr>
      <p:grpSpPr>
        <a:xfrm>
          <a:off x="0" y="0"/>
          <a:ext cx="0" cy="0"/>
          <a:chOff x="0" y="0"/>
          <a:chExt cx="0" cy="0"/>
        </a:xfrm>
      </p:grpSpPr>
      <p:sp>
        <p:nvSpPr>
          <p:cNvPr id="36" name="Google Shape;36;p5"/>
          <p:cNvSpPr txBox="1"/>
          <p:nvPr/>
        </p:nvSpPr>
        <p:spPr>
          <a:xfrm>
            <a:off x="812800" y="660325"/>
            <a:ext cx="10884000" cy="238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00"/>
              <a:buFont typeface="IBM Plex Sans"/>
              <a:buNone/>
            </a:pPr>
            <a:r>
              <a:rPr b="1" i="0" lang="en-US" sz="2300" u="none">
                <a:solidFill>
                  <a:srgbClr val="B85C2C"/>
                </a:solidFill>
                <a:latin typeface="IBM Plex Sans"/>
                <a:ea typeface="IBM Plex Sans"/>
                <a:cs typeface="IBM Plex Sans"/>
                <a:sym typeface="IBM Plex Sans"/>
              </a:rPr>
              <a:t>PROBLEM </a:t>
            </a:r>
            <a:r>
              <a:rPr b="1" lang="en-US" sz="2300">
                <a:solidFill>
                  <a:srgbClr val="B85C2C"/>
                </a:solidFill>
                <a:latin typeface="IBM Plex Sans"/>
                <a:ea typeface="IBM Plex Sans"/>
                <a:cs typeface="IBM Plex Sans"/>
                <a:sym typeface="IBM Plex Sans"/>
              </a:rPr>
              <a:t>&amp; MOTIVATION</a:t>
            </a:r>
            <a:endParaRPr sz="2500"/>
          </a:p>
        </p:txBody>
      </p:sp>
      <p:sp>
        <p:nvSpPr>
          <p:cNvPr id="37" name="Google Shape;37;p5"/>
          <p:cNvSpPr txBox="1"/>
          <p:nvPr/>
        </p:nvSpPr>
        <p:spPr>
          <a:xfrm>
            <a:off x="812800" y="1127125"/>
            <a:ext cx="10137775" cy="960437"/>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2301E"/>
              </a:buClr>
              <a:buSzPts val="3200"/>
              <a:buFont typeface="Source Serif 4"/>
              <a:buNone/>
            </a:pPr>
            <a:r>
              <a:rPr b="1" i="0" lang="en-US" sz="3200" u="none">
                <a:solidFill>
                  <a:srgbClr val="22301E"/>
                </a:solidFill>
                <a:latin typeface="Source Serif 4"/>
                <a:ea typeface="Source Serif 4"/>
                <a:cs typeface="Source Serif 4"/>
                <a:sym typeface="Source Serif 4"/>
              </a:rPr>
              <a:t>Healthy eating takes more than nutrition knowledge</a:t>
            </a:r>
            <a:endParaRPr/>
          </a:p>
        </p:txBody>
      </p:sp>
      <p:sp>
        <p:nvSpPr>
          <p:cNvPr id="38" name="Google Shape;38;p5"/>
          <p:cNvSpPr txBox="1"/>
          <p:nvPr/>
        </p:nvSpPr>
        <p:spPr>
          <a:xfrm>
            <a:off x="812800" y="2316150"/>
            <a:ext cx="10188900" cy="5970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55594C"/>
              </a:buClr>
              <a:buSzPts val="1500"/>
              <a:buFont typeface="IBM Plex Sans"/>
              <a:buNone/>
            </a:pPr>
            <a:r>
              <a:rPr b="0" i="0" lang="en-US" sz="1800" u="none">
                <a:solidFill>
                  <a:srgbClr val="55594C"/>
                </a:solidFill>
                <a:latin typeface="IBM Plex Sans"/>
                <a:ea typeface="IBM Plex Sans"/>
                <a:cs typeface="IBM Plex Sans"/>
                <a:sym typeface="IBM Plex Sans"/>
              </a:rPr>
              <a:t>Most people know what's healthy already. What drains their time is planning, shopping, preparing, and tracking it  every week, from scratch.</a:t>
            </a:r>
            <a:endParaRPr sz="1700"/>
          </a:p>
        </p:txBody>
      </p:sp>
      <p:sp>
        <p:nvSpPr>
          <p:cNvPr id="39" name="Google Shape;39;p5"/>
          <p:cNvSpPr/>
          <p:nvPr/>
        </p:nvSpPr>
        <p:spPr>
          <a:xfrm>
            <a:off x="816000" y="3365101"/>
            <a:ext cx="2520900" cy="1952700"/>
          </a:xfrm>
          <a:prstGeom prst="roundRect">
            <a:avLst>
              <a:gd fmla="val 2039"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40" name="Google Shape;40;p5"/>
          <p:cNvSpPr txBox="1"/>
          <p:nvPr/>
        </p:nvSpPr>
        <p:spPr>
          <a:xfrm>
            <a:off x="971575" y="3656344"/>
            <a:ext cx="2276400" cy="50550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22301E"/>
              </a:buClr>
              <a:buSzPts val="1600"/>
              <a:buFont typeface="IBM Plex Sans"/>
              <a:buNone/>
            </a:pPr>
            <a:r>
              <a:rPr b="1" i="0" lang="en-US" sz="1900" u="none">
                <a:solidFill>
                  <a:srgbClr val="22301E"/>
                </a:solidFill>
                <a:latin typeface="IBM Plex Sans"/>
                <a:ea typeface="IBM Plex Sans"/>
                <a:cs typeface="IBM Plex Sans"/>
                <a:sym typeface="IBM Plex Sans"/>
              </a:rPr>
              <a:t>Plan</a:t>
            </a:r>
            <a:endParaRPr sz="1700"/>
          </a:p>
        </p:txBody>
      </p:sp>
      <p:sp>
        <p:nvSpPr>
          <p:cNvPr id="41" name="Google Shape;41;p5"/>
          <p:cNvSpPr txBox="1"/>
          <p:nvPr/>
        </p:nvSpPr>
        <p:spPr>
          <a:xfrm>
            <a:off x="971575" y="4256661"/>
            <a:ext cx="2276400" cy="817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5594C"/>
              </a:buClr>
              <a:buSzPts val="1200"/>
              <a:buFont typeface="IBM Plex Sans"/>
              <a:buNone/>
            </a:pPr>
            <a:r>
              <a:rPr b="0" i="0" lang="en-US" sz="1500" u="none">
                <a:solidFill>
                  <a:srgbClr val="55594C"/>
                </a:solidFill>
                <a:latin typeface="IBM Plex Sans"/>
                <a:ea typeface="IBM Plex Sans"/>
                <a:cs typeface="IBM Plex Sans"/>
                <a:sym typeface="IBM Plex Sans"/>
              </a:rPr>
              <a:t>Balance goals, budget, and time each week</a:t>
            </a:r>
            <a:endParaRPr sz="1700"/>
          </a:p>
        </p:txBody>
      </p:sp>
      <p:sp>
        <p:nvSpPr>
          <p:cNvPr id="42" name="Google Shape;42;p5"/>
          <p:cNvSpPr/>
          <p:nvPr/>
        </p:nvSpPr>
        <p:spPr>
          <a:xfrm>
            <a:off x="3495700" y="3365101"/>
            <a:ext cx="2520900" cy="1952700"/>
          </a:xfrm>
          <a:prstGeom prst="roundRect">
            <a:avLst>
              <a:gd fmla="val 2039"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43" name="Google Shape;43;p5"/>
          <p:cNvSpPr txBox="1"/>
          <p:nvPr/>
        </p:nvSpPr>
        <p:spPr>
          <a:xfrm>
            <a:off x="3651275" y="3656344"/>
            <a:ext cx="2276400" cy="50550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22301E"/>
              </a:buClr>
              <a:buSzPts val="1600"/>
              <a:buFont typeface="IBM Plex Sans"/>
              <a:buNone/>
            </a:pPr>
            <a:r>
              <a:rPr b="1" i="0" lang="en-US" sz="1900" u="none">
                <a:solidFill>
                  <a:srgbClr val="22301E"/>
                </a:solidFill>
                <a:latin typeface="IBM Plex Sans"/>
                <a:ea typeface="IBM Plex Sans"/>
                <a:cs typeface="IBM Plex Sans"/>
                <a:sym typeface="IBM Plex Sans"/>
              </a:rPr>
              <a:t>Shop</a:t>
            </a:r>
            <a:endParaRPr sz="1700"/>
          </a:p>
        </p:txBody>
      </p:sp>
      <p:sp>
        <p:nvSpPr>
          <p:cNvPr id="44" name="Google Shape;44;p5"/>
          <p:cNvSpPr txBox="1"/>
          <p:nvPr/>
        </p:nvSpPr>
        <p:spPr>
          <a:xfrm>
            <a:off x="3651275" y="4256661"/>
            <a:ext cx="2276400" cy="817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5594C"/>
              </a:buClr>
              <a:buSzPts val="1200"/>
              <a:buFont typeface="IBM Plex Sans"/>
              <a:buNone/>
            </a:pPr>
            <a:r>
              <a:rPr b="0" i="0" lang="en-US" sz="1500" u="none">
                <a:solidFill>
                  <a:srgbClr val="55594C"/>
                </a:solidFill>
                <a:latin typeface="IBM Plex Sans"/>
                <a:ea typeface="IBM Plex Sans"/>
                <a:cs typeface="IBM Plex Sans"/>
                <a:sym typeface="IBM Plex Sans"/>
              </a:rPr>
              <a:t>Turn a plan into the right cart, not a rough list</a:t>
            </a:r>
            <a:endParaRPr sz="1700"/>
          </a:p>
        </p:txBody>
      </p:sp>
      <p:sp>
        <p:nvSpPr>
          <p:cNvPr id="45" name="Google Shape;45;p5"/>
          <p:cNvSpPr/>
          <p:nvPr/>
        </p:nvSpPr>
        <p:spPr>
          <a:xfrm>
            <a:off x="6175400" y="3365101"/>
            <a:ext cx="2520900" cy="1952700"/>
          </a:xfrm>
          <a:prstGeom prst="roundRect">
            <a:avLst>
              <a:gd fmla="val 2039"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46" name="Google Shape;46;p5"/>
          <p:cNvSpPr txBox="1"/>
          <p:nvPr/>
        </p:nvSpPr>
        <p:spPr>
          <a:xfrm>
            <a:off x="6330975" y="3656344"/>
            <a:ext cx="2276400" cy="50550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22301E"/>
              </a:buClr>
              <a:buSzPts val="1600"/>
              <a:buFont typeface="IBM Plex Sans"/>
              <a:buNone/>
            </a:pPr>
            <a:r>
              <a:rPr b="1" i="0" lang="en-US" sz="1900" u="none">
                <a:solidFill>
                  <a:srgbClr val="22301E"/>
                </a:solidFill>
                <a:latin typeface="IBM Plex Sans"/>
                <a:ea typeface="IBM Plex Sans"/>
                <a:cs typeface="IBM Plex Sans"/>
                <a:sym typeface="IBM Plex Sans"/>
              </a:rPr>
              <a:t>Prepare</a:t>
            </a:r>
            <a:endParaRPr sz="1700"/>
          </a:p>
        </p:txBody>
      </p:sp>
      <p:sp>
        <p:nvSpPr>
          <p:cNvPr id="47" name="Google Shape;47;p5"/>
          <p:cNvSpPr txBox="1"/>
          <p:nvPr/>
        </p:nvSpPr>
        <p:spPr>
          <a:xfrm>
            <a:off x="6330975" y="4256661"/>
            <a:ext cx="2276400" cy="817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5594C"/>
              </a:buClr>
              <a:buSzPts val="1200"/>
              <a:buFont typeface="IBM Plex Sans"/>
              <a:buNone/>
            </a:pPr>
            <a:r>
              <a:rPr b="0" i="0" lang="en-US" sz="1500" u="none">
                <a:solidFill>
                  <a:srgbClr val="55594C"/>
                </a:solidFill>
                <a:latin typeface="IBM Plex Sans"/>
                <a:ea typeface="IBM Plex Sans"/>
                <a:cs typeface="IBM Plex Sans"/>
                <a:sym typeface="IBM Plex Sans"/>
              </a:rPr>
              <a:t>Cook within real skill and time limits</a:t>
            </a:r>
            <a:endParaRPr sz="1700"/>
          </a:p>
        </p:txBody>
      </p:sp>
      <p:sp>
        <p:nvSpPr>
          <p:cNvPr id="48" name="Google Shape;48;p5"/>
          <p:cNvSpPr/>
          <p:nvPr/>
        </p:nvSpPr>
        <p:spPr>
          <a:xfrm>
            <a:off x="8855100" y="3365101"/>
            <a:ext cx="2520900" cy="1952700"/>
          </a:xfrm>
          <a:prstGeom prst="roundRect">
            <a:avLst>
              <a:gd fmla="val 2039"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49" name="Google Shape;49;p5"/>
          <p:cNvSpPr txBox="1"/>
          <p:nvPr/>
        </p:nvSpPr>
        <p:spPr>
          <a:xfrm>
            <a:off x="9010675" y="3656344"/>
            <a:ext cx="2276400" cy="50550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22301E"/>
              </a:buClr>
              <a:buSzPts val="1600"/>
              <a:buFont typeface="IBM Plex Sans"/>
              <a:buNone/>
            </a:pPr>
            <a:r>
              <a:rPr b="1" i="0" lang="en-US" sz="1900" u="none">
                <a:solidFill>
                  <a:srgbClr val="22301E"/>
                </a:solidFill>
                <a:latin typeface="IBM Plex Sans"/>
                <a:ea typeface="IBM Plex Sans"/>
                <a:cs typeface="IBM Plex Sans"/>
                <a:sym typeface="IBM Plex Sans"/>
              </a:rPr>
              <a:t>Sustain</a:t>
            </a:r>
            <a:endParaRPr sz="1700"/>
          </a:p>
        </p:txBody>
      </p:sp>
      <p:sp>
        <p:nvSpPr>
          <p:cNvPr id="50" name="Google Shape;50;p5"/>
          <p:cNvSpPr txBox="1"/>
          <p:nvPr/>
        </p:nvSpPr>
        <p:spPr>
          <a:xfrm>
            <a:off x="9010675" y="4256661"/>
            <a:ext cx="2276400" cy="817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5594C"/>
              </a:buClr>
              <a:buSzPts val="1200"/>
              <a:buFont typeface="IBM Plex Sans"/>
              <a:buNone/>
            </a:pPr>
            <a:r>
              <a:rPr b="0" i="0" lang="en-US" sz="1500" u="none">
                <a:solidFill>
                  <a:srgbClr val="55594C"/>
                </a:solidFill>
                <a:latin typeface="IBM Plex Sans"/>
                <a:ea typeface="IBM Plex Sans"/>
                <a:cs typeface="IBM Plex Sans"/>
                <a:sym typeface="IBM Plex Sans"/>
              </a:rPr>
              <a:t>Keep the changes going after week one</a:t>
            </a:r>
            <a:endParaRPr sz="1700"/>
          </a:p>
        </p:txBody>
      </p:sp>
      <p:sp>
        <p:nvSpPr>
          <p:cNvPr id="51" name="Google Shape;51;p5"/>
          <p:cNvSpPr txBox="1"/>
          <p:nvPr/>
        </p:nvSpPr>
        <p:spPr>
          <a:xfrm>
            <a:off x="814350" y="5634200"/>
            <a:ext cx="10563300" cy="2382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55594C"/>
              </a:buClr>
              <a:buSzPts val="1300"/>
              <a:buFont typeface="IBM Plex Sans"/>
              <a:buNone/>
            </a:pPr>
            <a:r>
              <a:rPr b="0" i="1" lang="en-US" sz="1600" u="none">
                <a:solidFill>
                  <a:srgbClr val="55594C"/>
                </a:solidFill>
                <a:latin typeface="IBM Plex Sans"/>
                <a:ea typeface="IBM Plex Sans"/>
                <a:cs typeface="IBM Plex Sans"/>
                <a:sym typeface="IBM Plex Sans"/>
              </a:rPr>
              <a:t>This burden falls hardest on people with limited time, cooking skill, or budget. Closing it requires reasoning over shifting personal constraints in real time — the kind of problem generative AI, not static rules, is built for.</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55" name="Shape 55"/>
        <p:cNvGrpSpPr/>
        <p:nvPr/>
      </p:nvGrpSpPr>
      <p:grpSpPr>
        <a:xfrm>
          <a:off x="0" y="0"/>
          <a:ext cx="0" cy="0"/>
          <a:chOff x="0" y="0"/>
          <a:chExt cx="0" cy="0"/>
        </a:xfrm>
      </p:grpSpPr>
      <p:grpSp>
        <p:nvGrpSpPr>
          <p:cNvPr id="56" name="Google Shape;56;p6"/>
          <p:cNvGrpSpPr/>
          <p:nvPr/>
        </p:nvGrpSpPr>
        <p:grpSpPr>
          <a:xfrm>
            <a:off x="812800" y="266191"/>
            <a:ext cx="13529425" cy="493800"/>
            <a:chOff x="812800" y="266191"/>
            <a:chExt cx="13529425" cy="493800"/>
          </a:xfrm>
        </p:grpSpPr>
        <p:sp>
          <p:nvSpPr>
            <p:cNvPr id="57" name="Google Shape;57;p6"/>
            <p:cNvSpPr txBox="1"/>
            <p:nvPr/>
          </p:nvSpPr>
          <p:spPr>
            <a:xfrm>
              <a:off x="812800" y="347457"/>
              <a:ext cx="10884000" cy="238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00"/>
                <a:buFont typeface="IBM Plex Sans"/>
                <a:buNone/>
              </a:pPr>
              <a:r>
                <a:rPr b="1" i="0" lang="en-US" sz="1700" u="none">
                  <a:solidFill>
                    <a:srgbClr val="B85C2C"/>
                  </a:solidFill>
                  <a:latin typeface="IBM Plex Sans"/>
                  <a:ea typeface="IBM Plex Sans"/>
                  <a:cs typeface="IBM Plex Sans"/>
                  <a:sym typeface="IBM Plex Sans"/>
                </a:rPr>
                <a:t>TARGET USERS &amp; TASKS</a:t>
              </a:r>
              <a:endParaRPr sz="1900"/>
            </a:p>
          </p:txBody>
        </p:sp>
        <p:sp>
          <p:nvSpPr>
            <p:cNvPr id="58" name="Google Shape;58;p6"/>
            <p:cNvSpPr txBox="1"/>
            <p:nvPr/>
          </p:nvSpPr>
          <p:spPr>
            <a:xfrm>
              <a:off x="3458225" y="266191"/>
              <a:ext cx="10884000" cy="4938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2301E"/>
                </a:buClr>
                <a:buSzPts val="3200"/>
                <a:buFont typeface="Source Serif 4"/>
                <a:buNone/>
              </a:pPr>
              <a:r>
                <a:rPr b="1" lang="en-US" sz="2400">
                  <a:solidFill>
                    <a:srgbClr val="22301E"/>
                  </a:solidFill>
                  <a:latin typeface="Source Serif 4"/>
                  <a:ea typeface="Source Serif 4"/>
                  <a:cs typeface="Source Serif 4"/>
                  <a:sym typeface="Source Serif 4"/>
                </a:rPr>
                <a:t>|   Primary User Personas</a:t>
              </a:r>
              <a:endParaRPr sz="600"/>
            </a:p>
          </p:txBody>
        </p:sp>
      </p:grpSp>
      <p:grpSp>
        <p:nvGrpSpPr>
          <p:cNvPr id="59" name="Google Shape;59;p6"/>
          <p:cNvGrpSpPr/>
          <p:nvPr/>
        </p:nvGrpSpPr>
        <p:grpSpPr>
          <a:xfrm>
            <a:off x="1500175" y="891457"/>
            <a:ext cx="2949413" cy="1563300"/>
            <a:chOff x="1097266" y="2206625"/>
            <a:chExt cx="2429100" cy="1563300"/>
          </a:xfrm>
        </p:grpSpPr>
        <p:sp>
          <p:nvSpPr>
            <p:cNvPr id="60" name="Google Shape;60;p6"/>
            <p:cNvSpPr/>
            <p:nvPr/>
          </p:nvSpPr>
          <p:spPr>
            <a:xfrm>
              <a:off x="1097266" y="2206625"/>
              <a:ext cx="2429100" cy="1563300"/>
            </a:xfrm>
            <a:prstGeom prst="roundRect">
              <a:avLst>
                <a:gd fmla="val 2155" name="adj"/>
              </a:avLst>
            </a:prstGeom>
            <a:solidFill>
              <a:srgbClr val="FFFDF8"/>
            </a:solidFill>
            <a:ln cap="flat" cmpd="sng" w="9525">
              <a:solidFill>
                <a:srgbClr val="E3DED0"/>
              </a:solidFill>
              <a:prstDash val="solid"/>
              <a:miter lim="8000"/>
              <a:headEnd len="sm" w="sm" type="none"/>
              <a:tailEnd len="sm" w="sm" type="none"/>
            </a:ln>
            <a:effectLst>
              <a:outerShdw blurRad="57150" rotWithShape="0" algn="bl" dir="5400000" dist="19050">
                <a:srgbClr val="000000">
                  <a:alpha val="50000"/>
                </a:srgbClr>
              </a:outerShdw>
            </a:effectLst>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61" name="Google Shape;61;p6"/>
            <p:cNvSpPr txBox="1"/>
            <p:nvPr/>
          </p:nvSpPr>
          <p:spPr>
            <a:xfrm>
              <a:off x="1167925" y="3415015"/>
              <a:ext cx="2287800" cy="208500"/>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22301E"/>
                </a:buClr>
                <a:buSzPts val="1226"/>
                <a:buFont typeface="IBM Plex Sans"/>
                <a:buNone/>
              </a:pPr>
              <a:r>
                <a:rPr b="1" i="0" lang="en-US" sz="1401" u="none">
                  <a:solidFill>
                    <a:srgbClr val="B85C2C"/>
                  </a:solidFill>
                  <a:latin typeface="IBM Plex Sans"/>
                  <a:ea typeface="IBM Plex Sans"/>
                  <a:cs typeface="IBM Plex Sans"/>
                  <a:sym typeface="IBM Plex Sans"/>
                </a:rPr>
                <a:t>The </a:t>
              </a:r>
              <a:r>
                <a:rPr b="1" lang="en-US" sz="1401">
                  <a:solidFill>
                    <a:srgbClr val="B85C2C"/>
                  </a:solidFill>
                  <a:latin typeface="IBM Plex Sans"/>
                  <a:ea typeface="IBM Plex Sans"/>
                  <a:cs typeface="IBM Plex Sans"/>
                  <a:sym typeface="IBM Plex Sans"/>
                </a:rPr>
                <a:t>Always-on-the-Go Planner </a:t>
              </a:r>
              <a:endParaRPr sz="1401">
                <a:solidFill>
                  <a:srgbClr val="B85C2C"/>
                </a:solidFill>
              </a:endParaRPr>
            </a:p>
          </p:txBody>
        </p:sp>
        <p:pic>
          <p:nvPicPr>
            <p:cNvPr id="62" name="Google Shape;62;p6" title="man.png"/>
            <p:cNvPicPr preferRelativeResize="0"/>
            <p:nvPr/>
          </p:nvPicPr>
          <p:blipFill>
            <a:blip r:embed="rId3">
              <a:alphaModFix/>
            </a:blip>
            <a:stretch>
              <a:fillRect/>
            </a:stretch>
          </p:blipFill>
          <p:spPr>
            <a:xfrm>
              <a:off x="1776405" y="2395827"/>
              <a:ext cx="916370" cy="916370"/>
            </a:xfrm>
            <a:prstGeom prst="rect">
              <a:avLst/>
            </a:prstGeom>
            <a:noFill/>
            <a:ln>
              <a:noFill/>
            </a:ln>
          </p:spPr>
        </p:pic>
      </p:grpSp>
      <p:grpSp>
        <p:nvGrpSpPr>
          <p:cNvPr id="63" name="Google Shape;63;p6"/>
          <p:cNvGrpSpPr/>
          <p:nvPr/>
        </p:nvGrpSpPr>
        <p:grpSpPr>
          <a:xfrm>
            <a:off x="8823150" y="891457"/>
            <a:ext cx="2949413" cy="1563300"/>
            <a:chOff x="1097277" y="2206625"/>
            <a:chExt cx="2429100" cy="1563300"/>
          </a:xfrm>
        </p:grpSpPr>
        <p:sp>
          <p:nvSpPr>
            <p:cNvPr id="64" name="Google Shape;64;p6"/>
            <p:cNvSpPr/>
            <p:nvPr/>
          </p:nvSpPr>
          <p:spPr>
            <a:xfrm>
              <a:off x="1097277" y="2206625"/>
              <a:ext cx="2429100" cy="1563300"/>
            </a:xfrm>
            <a:prstGeom prst="roundRect">
              <a:avLst>
                <a:gd fmla="val 2155" name="adj"/>
              </a:avLst>
            </a:prstGeom>
            <a:solidFill>
              <a:srgbClr val="FFFDF8"/>
            </a:solidFill>
            <a:ln cap="flat" cmpd="sng" w="9525">
              <a:solidFill>
                <a:srgbClr val="E3DED0"/>
              </a:solidFill>
              <a:prstDash val="solid"/>
              <a:miter lim="8000"/>
              <a:headEnd len="sm" w="sm" type="none"/>
              <a:tailEnd len="sm" w="sm" type="none"/>
            </a:ln>
            <a:effectLst>
              <a:outerShdw blurRad="57150" rotWithShape="0" algn="bl" dir="5400000" dist="19050">
                <a:srgbClr val="000000">
                  <a:alpha val="50000"/>
                </a:srgbClr>
              </a:outerShdw>
            </a:effectLst>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65" name="Google Shape;65;p6"/>
            <p:cNvSpPr txBox="1"/>
            <p:nvPr/>
          </p:nvSpPr>
          <p:spPr>
            <a:xfrm>
              <a:off x="1167925" y="3415015"/>
              <a:ext cx="2287800" cy="208500"/>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22301E"/>
                </a:buClr>
                <a:buSzPts val="1226"/>
                <a:buFont typeface="IBM Plex Sans"/>
                <a:buNone/>
              </a:pPr>
              <a:r>
                <a:rPr b="1" lang="en-US" sz="1401">
                  <a:solidFill>
                    <a:srgbClr val="B85C2C"/>
                  </a:solidFill>
                  <a:latin typeface="IBM Plex Sans"/>
                  <a:ea typeface="IBM Plex Sans"/>
                  <a:cs typeface="IBM Plex Sans"/>
                  <a:sym typeface="IBM Plex Sans"/>
                </a:rPr>
                <a:t>The On-and-Off Dieter</a:t>
              </a:r>
              <a:endParaRPr sz="1401">
                <a:solidFill>
                  <a:srgbClr val="B85C2C"/>
                </a:solidFill>
              </a:endParaRPr>
            </a:p>
          </p:txBody>
        </p:sp>
      </p:grpSp>
      <p:grpSp>
        <p:nvGrpSpPr>
          <p:cNvPr id="66" name="Google Shape;66;p6"/>
          <p:cNvGrpSpPr/>
          <p:nvPr/>
        </p:nvGrpSpPr>
        <p:grpSpPr>
          <a:xfrm>
            <a:off x="5161663" y="891457"/>
            <a:ext cx="2949413" cy="1646710"/>
            <a:chOff x="5421825" y="1694175"/>
            <a:chExt cx="2949413" cy="1646710"/>
          </a:xfrm>
        </p:grpSpPr>
        <p:grpSp>
          <p:nvGrpSpPr>
            <p:cNvPr id="67" name="Google Shape;67;p6"/>
            <p:cNvGrpSpPr/>
            <p:nvPr/>
          </p:nvGrpSpPr>
          <p:grpSpPr>
            <a:xfrm>
              <a:off x="5421825" y="1694175"/>
              <a:ext cx="2949413" cy="1646710"/>
              <a:chOff x="1097279" y="2206625"/>
              <a:chExt cx="2429100" cy="1646710"/>
            </a:xfrm>
          </p:grpSpPr>
          <p:sp>
            <p:nvSpPr>
              <p:cNvPr id="68" name="Google Shape;68;p6"/>
              <p:cNvSpPr/>
              <p:nvPr/>
            </p:nvSpPr>
            <p:spPr>
              <a:xfrm>
                <a:off x="1097279" y="2206625"/>
                <a:ext cx="2429100" cy="1563300"/>
              </a:xfrm>
              <a:prstGeom prst="roundRect">
                <a:avLst>
                  <a:gd fmla="val 2155" name="adj"/>
                </a:avLst>
              </a:prstGeom>
              <a:solidFill>
                <a:srgbClr val="FFFDF8"/>
              </a:solidFill>
              <a:ln cap="flat" cmpd="sng" w="9525">
                <a:solidFill>
                  <a:srgbClr val="E3DED0"/>
                </a:solidFill>
                <a:prstDash val="solid"/>
                <a:miter lim="8000"/>
                <a:headEnd len="sm" w="sm" type="none"/>
                <a:tailEnd len="sm" w="sm" type="none"/>
              </a:ln>
              <a:effectLst>
                <a:outerShdw blurRad="57150" rotWithShape="0" algn="bl" dir="5400000" dist="19050">
                  <a:srgbClr val="000000">
                    <a:alpha val="50000"/>
                  </a:srgbClr>
                </a:outerShdw>
              </a:effectLst>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69" name="Google Shape;69;p6"/>
              <p:cNvSpPr txBox="1"/>
              <p:nvPr/>
            </p:nvSpPr>
            <p:spPr>
              <a:xfrm>
                <a:off x="1167923" y="3415035"/>
                <a:ext cx="2287800" cy="438300"/>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22301E"/>
                  </a:buClr>
                  <a:buSzPts val="1226"/>
                  <a:buFont typeface="IBM Plex Sans"/>
                  <a:buNone/>
                </a:pPr>
                <a:r>
                  <a:rPr b="1" lang="en-US" sz="1401">
                    <a:solidFill>
                      <a:srgbClr val="B85C2C"/>
                    </a:solidFill>
                    <a:latin typeface="IBM Plex Sans"/>
                    <a:ea typeface="IBM Plex Sans"/>
                    <a:cs typeface="IBM Plex Sans"/>
                    <a:sym typeface="IBM Plex Sans"/>
                  </a:rPr>
                  <a:t>The Budget-Savvy Shopper</a:t>
                </a:r>
                <a:endParaRPr sz="1401">
                  <a:solidFill>
                    <a:srgbClr val="B85C2C"/>
                  </a:solidFill>
                </a:endParaRPr>
              </a:p>
            </p:txBody>
          </p:sp>
        </p:grpSp>
        <p:pic>
          <p:nvPicPr>
            <p:cNvPr id="70" name="Google Shape;70;p6"/>
            <p:cNvPicPr preferRelativeResize="0"/>
            <p:nvPr/>
          </p:nvPicPr>
          <p:blipFill>
            <a:blip r:embed="rId4">
              <a:alphaModFix/>
            </a:blip>
            <a:stretch>
              <a:fillRect/>
            </a:stretch>
          </p:blipFill>
          <p:spPr>
            <a:xfrm>
              <a:off x="6477675" y="1934074"/>
              <a:ext cx="837725" cy="837725"/>
            </a:xfrm>
            <a:prstGeom prst="rect">
              <a:avLst/>
            </a:prstGeom>
            <a:noFill/>
            <a:ln>
              <a:noFill/>
            </a:ln>
          </p:spPr>
        </p:pic>
      </p:grpSp>
      <p:grpSp>
        <p:nvGrpSpPr>
          <p:cNvPr id="71" name="Google Shape;71;p6"/>
          <p:cNvGrpSpPr/>
          <p:nvPr/>
        </p:nvGrpSpPr>
        <p:grpSpPr>
          <a:xfrm>
            <a:off x="-82666" y="3117007"/>
            <a:ext cx="1639964" cy="447107"/>
            <a:chOff x="490544" y="3846700"/>
            <a:chExt cx="1970400" cy="327000"/>
          </a:xfrm>
        </p:grpSpPr>
        <p:sp>
          <p:nvSpPr>
            <p:cNvPr id="72" name="Google Shape;72;p6"/>
            <p:cNvSpPr/>
            <p:nvPr/>
          </p:nvSpPr>
          <p:spPr>
            <a:xfrm>
              <a:off x="861704" y="3846700"/>
              <a:ext cx="1203000" cy="327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73" name="Google Shape;73;p6"/>
            <p:cNvSpPr txBox="1"/>
            <p:nvPr/>
          </p:nvSpPr>
          <p:spPr>
            <a:xfrm>
              <a:off x="490544" y="3919548"/>
              <a:ext cx="1970400" cy="238200"/>
            </a:xfrm>
            <a:prstGeom prst="rect">
              <a:avLst/>
            </a:prstGeom>
            <a:noFill/>
            <a:ln>
              <a:noFill/>
            </a:ln>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marR="0" rtl="0" algn="ctr">
                <a:lnSpc>
                  <a:spcPct val="133333"/>
                </a:lnSpc>
                <a:spcBef>
                  <a:spcPts val="0"/>
                </a:spcBef>
                <a:spcAft>
                  <a:spcPts val="0"/>
                </a:spcAft>
                <a:buClr>
                  <a:srgbClr val="B85C2C"/>
                </a:buClr>
                <a:buSzPts val="1200"/>
                <a:buFont typeface="IBM Plex Sans"/>
                <a:buNone/>
              </a:pPr>
              <a:r>
                <a:rPr b="1" lang="en-US">
                  <a:solidFill>
                    <a:schemeClr val="lt1"/>
                  </a:solidFill>
                  <a:latin typeface="IBM Plex Sans"/>
                  <a:ea typeface="IBM Plex Sans"/>
                  <a:cs typeface="IBM Plex Sans"/>
                  <a:sym typeface="IBM Plex Sans"/>
                </a:rPr>
                <a:t>NEEDS</a:t>
              </a:r>
              <a:endParaRPr sz="1600">
                <a:solidFill>
                  <a:schemeClr val="lt1"/>
                </a:solidFill>
              </a:endParaRPr>
            </a:p>
          </p:txBody>
        </p:sp>
      </p:grpSp>
      <p:grpSp>
        <p:nvGrpSpPr>
          <p:cNvPr id="74" name="Google Shape;74;p6"/>
          <p:cNvGrpSpPr/>
          <p:nvPr/>
        </p:nvGrpSpPr>
        <p:grpSpPr>
          <a:xfrm>
            <a:off x="1500200" y="2482212"/>
            <a:ext cx="2949300" cy="1057311"/>
            <a:chOff x="1500200" y="3284930"/>
            <a:chExt cx="2949300" cy="1057311"/>
          </a:xfrm>
        </p:grpSpPr>
        <p:sp>
          <p:nvSpPr>
            <p:cNvPr id="75" name="Google Shape;75;p6"/>
            <p:cNvSpPr/>
            <p:nvPr/>
          </p:nvSpPr>
          <p:spPr>
            <a:xfrm>
              <a:off x="1500200" y="3704141"/>
              <a:ext cx="2949300" cy="638100"/>
            </a:xfrm>
            <a:prstGeom prst="roundRect">
              <a:avLst>
                <a:gd fmla="val 2155"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76" name="Google Shape;76;p6"/>
            <p:cNvSpPr txBox="1"/>
            <p:nvPr/>
          </p:nvSpPr>
          <p:spPr>
            <a:xfrm>
              <a:off x="1654775" y="3849266"/>
              <a:ext cx="2642100" cy="43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00">
                  <a:solidFill>
                    <a:srgbClr val="55594C"/>
                  </a:solidFill>
                  <a:latin typeface="IBM Plex Sans"/>
                  <a:ea typeface="IBM Plex Sans"/>
                  <a:cs typeface="IBM Plex Sans"/>
                  <a:sym typeface="IBM Plex Sans"/>
                </a:rPr>
                <a:t>Quick</a:t>
              </a:r>
              <a:r>
                <a:rPr lang="en-US" sz="1300">
                  <a:solidFill>
                    <a:srgbClr val="55594C"/>
                  </a:solidFill>
                  <a:latin typeface="IBM Plex Sans"/>
                  <a:ea typeface="IBM Plex Sans"/>
                  <a:cs typeface="IBM Plex Sans"/>
                  <a:sym typeface="IBM Plex Sans"/>
                </a:rPr>
                <a:t>, </a:t>
              </a:r>
              <a:r>
                <a:rPr b="1" lang="en-US" sz="1300">
                  <a:solidFill>
                    <a:srgbClr val="55594C"/>
                  </a:solidFill>
                  <a:latin typeface="IBM Plex Sans"/>
                  <a:ea typeface="IBM Plex Sans"/>
                  <a:cs typeface="IBM Plex Sans"/>
                  <a:sym typeface="IBM Plex Sans"/>
                </a:rPr>
                <a:t>low-effort </a:t>
              </a:r>
              <a:r>
                <a:rPr lang="en-US" sz="1300">
                  <a:solidFill>
                    <a:srgbClr val="55594C"/>
                  </a:solidFill>
                  <a:latin typeface="IBM Plex Sans"/>
                  <a:ea typeface="IBM Plex Sans"/>
                  <a:cs typeface="IBM Plex Sans"/>
                  <a:sym typeface="IBM Plex Sans"/>
                </a:rPr>
                <a:t>meals made with </a:t>
              </a:r>
              <a:r>
                <a:rPr b="1" lang="en-US" sz="1300">
                  <a:solidFill>
                    <a:srgbClr val="55594C"/>
                  </a:solidFill>
                  <a:latin typeface="IBM Plex Sans"/>
                  <a:ea typeface="IBM Plex Sans"/>
                  <a:cs typeface="IBM Plex Sans"/>
                  <a:sym typeface="IBM Plex Sans"/>
                </a:rPr>
                <a:t>accessible ingredients.</a:t>
              </a:r>
              <a:endParaRPr b="1" sz="1500"/>
            </a:p>
          </p:txBody>
        </p:sp>
        <p:sp>
          <p:nvSpPr>
            <p:cNvPr id="77" name="Google Shape;77;p6"/>
            <p:cNvSpPr/>
            <p:nvPr/>
          </p:nvSpPr>
          <p:spPr>
            <a:xfrm>
              <a:off x="2860400" y="3284930"/>
              <a:ext cx="228900" cy="438300"/>
            </a:xfrm>
            <a:prstGeom prst="down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grpSp>
      <p:sp>
        <p:nvSpPr>
          <p:cNvPr id="78" name="Google Shape;78;p6"/>
          <p:cNvSpPr txBox="1"/>
          <p:nvPr/>
        </p:nvSpPr>
        <p:spPr>
          <a:xfrm>
            <a:off x="7691425" y="317378"/>
            <a:ext cx="2813100" cy="238200"/>
          </a:xfrm>
          <a:prstGeom prst="rect">
            <a:avLst/>
          </a:prstGeom>
          <a:noFill/>
          <a:ln>
            <a:noFill/>
          </a:ln>
        </p:spPr>
        <p:txBody>
          <a:bodyPr anchorCtr="0" anchor="t" bIns="0" lIns="0" spcFirstLastPara="1" rIns="0" wrap="square" tIns="0">
            <a:noAutofit/>
          </a:bodyPr>
          <a:lstStyle/>
          <a:p>
            <a:pPr indent="0" lvl="0" marL="0" marR="0" rtl="0" algn="l">
              <a:lnSpc>
                <a:spcPct val="114285"/>
              </a:lnSpc>
              <a:spcBef>
                <a:spcPts val="0"/>
              </a:spcBef>
              <a:spcAft>
                <a:spcPts val="0"/>
              </a:spcAft>
              <a:buClr>
                <a:srgbClr val="22301E"/>
              </a:buClr>
              <a:buSzPts val="1400"/>
              <a:buFont typeface="IBM Plex Sans"/>
              <a:buNone/>
            </a:pPr>
            <a:r>
              <a:t/>
            </a:r>
            <a:endParaRPr b="1">
              <a:solidFill>
                <a:srgbClr val="22301E"/>
              </a:solidFill>
              <a:latin typeface="IBM Plex Sans"/>
              <a:ea typeface="IBM Plex Sans"/>
              <a:cs typeface="IBM Plex Sans"/>
              <a:sym typeface="IBM Plex Sans"/>
            </a:endParaRPr>
          </a:p>
        </p:txBody>
      </p:sp>
      <p:grpSp>
        <p:nvGrpSpPr>
          <p:cNvPr id="79" name="Google Shape;79;p6"/>
          <p:cNvGrpSpPr/>
          <p:nvPr/>
        </p:nvGrpSpPr>
        <p:grpSpPr>
          <a:xfrm>
            <a:off x="1528350" y="3784032"/>
            <a:ext cx="2921100" cy="1383900"/>
            <a:chOff x="1528350" y="4586750"/>
            <a:chExt cx="2921100" cy="1383900"/>
          </a:xfrm>
        </p:grpSpPr>
        <p:sp>
          <p:nvSpPr>
            <p:cNvPr id="80" name="Google Shape;80;p6"/>
            <p:cNvSpPr/>
            <p:nvPr/>
          </p:nvSpPr>
          <p:spPr>
            <a:xfrm>
              <a:off x="1528350" y="4586750"/>
              <a:ext cx="2921100" cy="1383900"/>
            </a:xfrm>
            <a:prstGeom prst="roundRect">
              <a:avLst>
                <a:gd fmla="val 2155" name="adj"/>
              </a:avLst>
            </a:prstGeom>
            <a:solidFill>
              <a:srgbClr val="D98B54">
                <a:alpha val="15190"/>
              </a:srgb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81" name="Google Shape;81;p6"/>
            <p:cNvSpPr txBox="1"/>
            <p:nvPr/>
          </p:nvSpPr>
          <p:spPr>
            <a:xfrm>
              <a:off x="1810900" y="4749100"/>
              <a:ext cx="2638500" cy="1151700"/>
            </a:xfrm>
            <a:prstGeom prst="rect">
              <a:avLst/>
            </a:prstGeom>
            <a:noFill/>
            <a:ln>
              <a:noFill/>
            </a:ln>
          </p:spPr>
          <p:txBody>
            <a:bodyPr anchorCtr="0" anchor="t" bIns="0" lIns="400050" spcFirstLastPara="1" rIns="0" wrap="square" tIns="0">
              <a:noAutofit/>
            </a:bodyPr>
            <a:lstStyle/>
            <a:p>
              <a:pPr indent="-304800" lvl="0" marL="0" rtl="0" algn="l">
                <a:spcBef>
                  <a:spcPts val="0"/>
                </a:spcBef>
                <a:spcAft>
                  <a:spcPts val="0"/>
                </a:spcAft>
                <a:buClr>
                  <a:srgbClr val="B85C2C"/>
                </a:buClr>
                <a:buSzPts val="1200"/>
                <a:buFont typeface="IBM Plex Sans"/>
                <a:buChar char="●"/>
              </a:pPr>
              <a:r>
                <a:rPr b="1" lang="en-US" sz="1200">
                  <a:solidFill>
                    <a:srgbClr val="B85C2C"/>
                  </a:solidFill>
                  <a:latin typeface="IBM Plex Sans"/>
                  <a:ea typeface="IBM Plex Sans"/>
                  <a:cs typeface="IBM Plex Sans"/>
                  <a:sym typeface="IBM Plex Sans"/>
                </a:rPr>
                <a:t>Generate a quick, realistic weekly meal plan</a:t>
              </a:r>
              <a:endParaRPr b="1" sz="1200">
                <a:solidFill>
                  <a:srgbClr val="B85C2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Find fast-prep meals </a:t>
              </a:r>
              <a:r>
                <a:rPr lang="en-US" sz="1200">
                  <a:solidFill>
                    <a:srgbClr val="55594C"/>
                  </a:solidFill>
                  <a:latin typeface="IBM Plex Sans"/>
                  <a:ea typeface="IBM Plex Sans"/>
                  <a:cs typeface="IBM Plex Sans"/>
                  <a:sym typeface="IBM Plex Sans"/>
                </a:rPr>
                <a:t>with accessible ingredients</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Adjust meals conversationally</a:t>
              </a:r>
              <a:r>
                <a:rPr lang="en-US" sz="1200">
                  <a:solidFill>
                    <a:srgbClr val="55594C"/>
                  </a:solidFill>
                  <a:latin typeface="IBM Plex Sans"/>
                  <a:ea typeface="IBM Plex Sans"/>
                  <a:cs typeface="IBM Plex Sans"/>
                  <a:sym typeface="IBM Plex Sans"/>
                </a:rPr>
                <a:t> as schedules change</a:t>
              </a:r>
              <a:endParaRPr sz="1200">
                <a:solidFill>
                  <a:srgbClr val="55594C"/>
                </a:solidFill>
                <a:latin typeface="IBM Plex Sans"/>
                <a:ea typeface="IBM Plex Sans"/>
                <a:cs typeface="IBM Plex Sans"/>
                <a:sym typeface="IBM Plex Sans"/>
              </a:endParaRPr>
            </a:p>
          </p:txBody>
        </p:sp>
      </p:grpSp>
      <p:grpSp>
        <p:nvGrpSpPr>
          <p:cNvPr id="82" name="Google Shape;82;p6"/>
          <p:cNvGrpSpPr/>
          <p:nvPr/>
        </p:nvGrpSpPr>
        <p:grpSpPr>
          <a:xfrm>
            <a:off x="-54506" y="4277484"/>
            <a:ext cx="1639964" cy="447107"/>
            <a:chOff x="490544" y="3846700"/>
            <a:chExt cx="1970400" cy="327000"/>
          </a:xfrm>
        </p:grpSpPr>
        <p:sp>
          <p:nvSpPr>
            <p:cNvPr id="83" name="Google Shape;83;p6"/>
            <p:cNvSpPr/>
            <p:nvPr/>
          </p:nvSpPr>
          <p:spPr>
            <a:xfrm>
              <a:off x="861704" y="3846700"/>
              <a:ext cx="1203000" cy="327000"/>
            </a:xfrm>
            <a:prstGeom prst="roundRect">
              <a:avLst>
                <a:gd fmla="val 16667" name="adj"/>
              </a:avLst>
            </a:prstGeom>
            <a:solidFill>
              <a:srgbClr val="B85C2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84" name="Google Shape;84;p6"/>
            <p:cNvSpPr txBox="1"/>
            <p:nvPr/>
          </p:nvSpPr>
          <p:spPr>
            <a:xfrm>
              <a:off x="490544" y="3919548"/>
              <a:ext cx="1970400" cy="238200"/>
            </a:xfrm>
            <a:prstGeom prst="rect">
              <a:avLst/>
            </a:prstGeom>
            <a:noFill/>
            <a:ln>
              <a:noFill/>
            </a:ln>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marR="0" rtl="0" algn="ctr">
                <a:lnSpc>
                  <a:spcPct val="133333"/>
                </a:lnSpc>
                <a:spcBef>
                  <a:spcPts val="0"/>
                </a:spcBef>
                <a:spcAft>
                  <a:spcPts val="0"/>
                </a:spcAft>
                <a:buClr>
                  <a:srgbClr val="B85C2C"/>
                </a:buClr>
                <a:buSzPts val="1200"/>
                <a:buFont typeface="IBM Plex Sans"/>
                <a:buNone/>
              </a:pPr>
              <a:r>
                <a:rPr b="1" lang="en-US">
                  <a:solidFill>
                    <a:schemeClr val="lt1"/>
                  </a:solidFill>
                  <a:latin typeface="IBM Plex Sans"/>
                  <a:ea typeface="IBM Plex Sans"/>
                  <a:cs typeface="IBM Plex Sans"/>
                  <a:sym typeface="IBM Plex Sans"/>
                </a:rPr>
                <a:t>TASK</a:t>
              </a:r>
              <a:endParaRPr sz="1600">
                <a:solidFill>
                  <a:schemeClr val="lt1"/>
                </a:solidFill>
              </a:endParaRPr>
            </a:p>
          </p:txBody>
        </p:sp>
      </p:grpSp>
      <p:grpSp>
        <p:nvGrpSpPr>
          <p:cNvPr id="85" name="Google Shape;85;p6"/>
          <p:cNvGrpSpPr/>
          <p:nvPr/>
        </p:nvGrpSpPr>
        <p:grpSpPr>
          <a:xfrm>
            <a:off x="5161725" y="2478004"/>
            <a:ext cx="2949300" cy="1057311"/>
            <a:chOff x="1500200" y="3284930"/>
            <a:chExt cx="2949300" cy="1057311"/>
          </a:xfrm>
        </p:grpSpPr>
        <p:sp>
          <p:nvSpPr>
            <p:cNvPr id="86" name="Google Shape;86;p6"/>
            <p:cNvSpPr/>
            <p:nvPr/>
          </p:nvSpPr>
          <p:spPr>
            <a:xfrm>
              <a:off x="1500200" y="3704141"/>
              <a:ext cx="2949300" cy="638100"/>
            </a:xfrm>
            <a:prstGeom prst="roundRect">
              <a:avLst>
                <a:gd fmla="val 2155"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87" name="Google Shape;87;p6"/>
            <p:cNvSpPr txBox="1"/>
            <p:nvPr/>
          </p:nvSpPr>
          <p:spPr>
            <a:xfrm>
              <a:off x="1654775" y="3849266"/>
              <a:ext cx="2642100" cy="4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55594C"/>
                  </a:solidFill>
                  <a:latin typeface="IBM Plex Sans"/>
                  <a:ea typeface="IBM Plex Sans"/>
                  <a:cs typeface="IBM Plex Sans"/>
                  <a:sym typeface="IBM Plex Sans"/>
                </a:rPr>
                <a:t>Affordable, nutritious options</a:t>
              </a:r>
              <a:r>
                <a:rPr lang="en-US" sz="1300">
                  <a:solidFill>
                    <a:srgbClr val="55594C"/>
                  </a:solidFill>
                  <a:latin typeface="IBM Plex Sans"/>
                  <a:ea typeface="IBM Plex Sans"/>
                  <a:cs typeface="IBM Plex Sans"/>
                  <a:sym typeface="IBM Plex Sans"/>
                </a:rPr>
                <a:t> with less waste.</a:t>
              </a:r>
              <a:endParaRPr b="1" sz="1300">
                <a:solidFill>
                  <a:srgbClr val="55594C"/>
                </a:solidFill>
                <a:latin typeface="IBM Plex Sans"/>
                <a:ea typeface="IBM Plex Sans"/>
                <a:cs typeface="IBM Plex Sans"/>
                <a:sym typeface="IBM Plex Sans"/>
              </a:endParaRPr>
            </a:p>
          </p:txBody>
        </p:sp>
        <p:sp>
          <p:nvSpPr>
            <p:cNvPr id="88" name="Google Shape;88;p6"/>
            <p:cNvSpPr/>
            <p:nvPr/>
          </p:nvSpPr>
          <p:spPr>
            <a:xfrm>
              <a:off x="2860400" y="3284930"/>
              <a:ext cx="228900" cy="438300"/>
            </a:xfrm>
            <a:prstGeom prst="down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grpSp>
      <p:grpSp>
        <p:nvGrpSpPr>
          <p:cNvPr id="89" name="Google Shape;89;p6"/>
          <p:cNvGrpSpPr/>
          <p:nvPr/>
        </p:nvGrpSpPr>
        <p:grpSpPr>
          <a:xfrm>
            <a:off x="8851425" y="2470579"/>
            <a:ext cx="2949300" cy="1057311"/>
            <a:chOff x="1500200" y="3284930"/>
            <a:chExt cx="2949300" cy="1057311"/>
          </a:xfrm>
        </p:grpSpPr>
        <p:sp>
          <p:nvSpPr>
            <p:cNvPr id="90" name="Google Shape;90;p6"/>
            <p:cNvSpPr/>
            <p:nvPr/>
          </p:nvSpPr>
          <p:spPr>
            <a:xfrm>
              <a:off x="1500200" y="3704141"/>
              <a:ext cx="2949300" cy="638100"/>
            </a:xfrm>
            <a:prstGeom prst="roundRect">
              <a:avLst>
                <a:gd fmla="val 2155"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91" name="Google Shape;91;p6"/>
            <p:cNvSpPr txBox="1"/>
            <p:nvPr/>
          </p:nvSpPr>
          <p:spPr>
            <a:xfrm>
              <a:off x="1654775" y="3849266"/>
              <a:ext cx="2642100" cy="4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300">
                  <a:solidFill>
                    <a:srgbClr val="55594C"/>
                  </a:solidFill>
                  <a:latin typeface="IBM Plex Sans"/>
                  <a:ea typeface="IBM Plex Sans"/>
                  <a:cs typeface="IBM Plex Sans"/>
                  <a:sym typeface="IBM Plex Sans"/>
                </a:rPr>
                <a:t>Gradual, realistic changes </a:t>
              </a:r>
              <a:r>
                <a:rPr lang="en-US" sz="1300">
                  <a:solidFill>
                    <a:srgbClr val="55594C"/>
                  </a:solidFill>
                  <a:latin typeface="IBM Plex Sans"/>
                  <a:ea typeface="IBM Plex Sans"/>
                  <a:cs typeface="IBM Plex Sans"/>
                  <a:sym typeface="IBM Plex Sans"/>
                </a:rPr>
                <a:t>built around </a:t>
              </a:r>
              <a:r>
                <a:rPr b="1" lang="en-US" sz="1300">
                  <a:solidFill>
                    <a:srgbClr val="55594C"/>
                  </a:solidFill>
                  <a:latin typeface="IBM Plex Sans"/>
                  <a:ea typeface="IBM Plex Sans"/>
                  <a:cs typeface="IBM Plex Sans"/>
                  <a:sym typeface="IBM Plex Sans"/>
                </a:rPr>
                <a:t>familiar foods</a:t>
              </a:r>
              <a:r>
                <a:rPr lang="en-US" sz="1300">
                  <a:solidFill>
                    <a:srgbClr val="55594C"/>
                  </a:solidFill>
                  <a:latin typeface="IBM Plex Sans"/>
                  <a:ea typeface="IBM Plex Sans"/>
                  <a:cs typeface="IBM Plex Sans"/>
                  <a:sym typeface="IBM Plex Sans"/>
                </a:rPr>
                <a:t>. </a:t>
              </a:r>
              <a:endParaRPr sz="1500">
                <a:solidFill>
                  <a:schemeClr val="dk1"/>
                </a:solidFill>
              </a:endParaRPr>
            </a:p>
            <a:p>
              <a:pPr indent="0" lvl="0" marL="0" rtl="0" algn="l">
                <a:spcBef>
                  <a:spcPts val="0"/>
                </a:spcBef>
                <a:spcAft>
                  <a:spcPts val="0"/>
                </a:spcAft>
                <a:buNone/>
              </a:pPr>
              <a:r>
                <a:t/>
              </a:r>
              <a:endParaRPr b="1" sz="1300">
                <a:solidFill>
                  <a:srgbClr val="55594C"/>
                </a:solidFill>
                <a:latin typeface="IBM Plex Sans"/>
                <a:ea typeface="IBM Plex Sans"/>
                <a:cs typeface="IBM Plex Sans"/>
                <a:sym typeface="IBM Plex Sans"/>
              </a:endParaRPr>
            </a:p>
          </p:txBody>
        </p:sp>
        <p:sp>
          <p:nvSpPr>
            <p:cNvPr id="92" name="Google Shape;92;p6"/>
            <p:cNvSpPr/>
            <p:nvPr/>
          </p:nvSpPr>
          <p:spPr>
            <a:xfrm>
              <a:off x="2860400" y="3284930"/>
              <a:ext cx="228900" cy="438300"/>
            </a:xfrm>
            <a:prstGeom prst="down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grpSp>
      <p:grpSp>
        <p:nvGrpSpPr>
          <p:cNvPr id="93" name="Google Shape;93;p6"/>
          <p:cNvGrpSpPr/>
          <p:nvPr/>
        </p:nvGrpSpPr>
        <p:grpSpPr>
          <a:xfrm>
            <a:off x="5175825" y="3784032"/>
            <a:ext cx="2921100" cy="1383900"/>
            <a:chOff x="1528350" y="4586750"/>
            <a:chExt cx="2921100" cy="1383900"/>
          </a:xfrm>
        </p:grpSpPr>
        <p:sp>
          <p:nvSpPr>
            <p:cNvPr id="94" name="Google Shape;94;p6"/>
            <p:cNvSpPr/>
            <p:nvPr/>
          </p:nvSpPr>
          <p:spPr>
            <a:xfrm>
              <a:off x="1528350" y="4586750"/>
              <a:ext cx="2921100" cy="1383900"/>
            </a:xfrm>
            <a:prstGeom prst="roundRect">
              <a:avLst>
                <a:gd fmla="val 2155" name="adj"/>
              </a:avLst>
            </a:prstGeom>
            <a:solidFill>
              <a:srgbClr val="D98B54">
                <a:alpha val="15190"/>
              </a:srgb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95" name="Google Shape;95;p6"/>
            <p:cNvSpPr txBox="1"/>
            <p:nvPr/>
          </p:nvSpPr>
          <p:spPr>
            <a:xfrm>
              <a:off x="1810900" y="4749100"/>
              <a:ext cx="2638500" cy="1151700"/>
            </a:xfrm>
            <a:prstGeom prst="rect">
              <a:avLst/>
            </a:prstGeom>
            <a:noFill/>
            <a:ln>
              <a:noFill/>
            </a:ln>
          </p:spPr>
          <p:txBody>
            <a:bodyPr anchorCtr="0" anchor="t" bIns="0" lIns="400050" spcFirstLastPara="1" rIns="0" wrap="square" tIns="0">
              <a:noAutofit/>
            </a:bodyPr>
            <a:lstStyle/>
            <a:p>
              <a:pPr indent="-304800" lvl="0" marL="0" rtl="0" algn="l">
                <a:spcBef>
                  <a:spcPts val="0"/>
                </a:spcBef>
                <a:spcAft>
                  <a:spcPts val="0"/>
                </a:spcAft>
                <a:buClr>
                  <a:srgbClr val="B85C2C"/>
                </a:buClr>
                <a:buSzPts val="1200"/>
                <a:buFont typeface="IBM Plex Sans"/>
                <a:buChar char="●"/>
              </a:pPr>
              <a:r>
                <a:rPr b="1" lang="en-US" sz="1200">
                  <a:solidFill>
                    <a:srgbClr val="B85C2C"/>
                  </a:solidFill>
                  <a:latin typeface="IBM Plex Sans"/>
                  <a:ea typeface="IBM Plex Sans"/>
                  <a:cs typeface="IBM Plex Sans"/>
                  <a:sym typeface="IBM Plex Sans"/>
                </a:rPr>
                <a:t>Set a weekly grocery budget</a:t>
              </a:r>
              <a:endParaRPr b="1" sz="1200">
                <a:solidFill>
                  <a:srgbClr val="B85C2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Optimize ingredients</a:t>
              </a:r>
              <a:r>
                <a:rPr lang="en-US" sz="1200">
                  <a:solidFill>
                    <a:srgbClr val="B85C2C"/>
                  </a:solidFill>
                  <a:latin typeface="IBM Plex Sans"/>
                  <a:ea typeface="IBM Plex Sans"/>
                  <a:cs typeface="IBM Plex Sans"/>
                  <a:sym typeface="IBM Plex Sans"/>
                </a:rPr>
                <a:t> </a:t>
              </a:r>
              <a:r>
                <a:rPr lang="en-US" sz="1200">
                  <a:solidFill>
                    <a:srgbClr val="55594C"/>
                  </a:solidFill>
                  <a:latin typeface="IBM Plex Sans"/>
                  <a:ea typeface="IBM Plex Sans"/>
                  <a:cs typeface="IBM Plex Sans"/>
                  <a:sym typeface="IBM Plex Sans"/>
                </a:rPr>
                <a:t>across multiple meals</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Review and approve</a:t>
              </a:r>
              <a:r>
                <a:rPr b="1" lang="en-US" sz="1200">
                  <a:solidFill>
                    <a:srgbClr val="55594C"/>
                  </a:solidFill>
                  <a:latin typeface="IBM Plex Sans"/>
                  <a:ea typeface="IBM Plex Sans"/>
                  <a:cs typeface="IBM Plex Sans"/>
                  <a:sym typeface="IBM Plex Sans"/>
                </a:rPr>
                <a:t> </a:t>
              </a:r>
              <a:r>
                <a:rPr lang="en-US" sz="1200">
                  <a:solidFill>
                    <a:srgbClr val="55594C"/>
                  </a:solidFill>
                  <a:latin typeface="IBM Plex Sans"/>
                  <a:ea typeface="IBM Plex Sans"/>
                  <a:cs typeface="IBM Plex Sans"/>
                  <a:sym typeface="IBM Plex Sans"/>
                </a:rPr>
                <a:t>an affordable, low-waste cart</a:t>
              </a:r>
              <a:endParaRPr sz="1200">
                <a:solidFill>
                  <a:srgbClr val="55594C"/>
                </a:solidFill>
                <a:latin typeface="IBM Plex Sans"/>
                <a:ea typeface="IBM Plex Sans"/>
                <a:cs typeface="IBM Plex Sans"/>
                <a:sym typeface="IBM Plex Sans"/>
              </a:endParaRPr>
            </a:p>
          </p:txBody>
        </p:sp>
      </p:grpSp>
      <p:grpSp>
        <p:nvGrpSpPr>
          <p:cNvPr id="96" name="Google Shape;96;p6"/>
          <p:cNvGrpSpPr/>
          <p:nvPr/>
        </p:nvGrpSpPr>
        <p:grpSpPr>
          <a:xfrm>
            <a:off x="8865525" y="3750920"/>
            <a:ext cx="2921100" cy="1383900"/>
            <a:chOff x="1528350" y="4586750"/>
            <a:chExt cx="2921100" cy="1383900"/>
          </a:xfrm>
        </p:grpSpPr>
        <p:sp>
          <p:nvSpPr>
            <p:cNvPr id="97" name="Google Shape;97;p6"/>
            <p:cNvSpPr/>
            <p:nvPr/>
          </p:nvSpPr>
          <p:spPr>
            <a:xfrm>
              <a:off x="1528350" y="4586750"/>
              <a:ext cx="2921100" cy="1383900"/>
            </a:xfrm>
            <a:prstGeom prst="roundRect">
              <a:avLst>
                <a:gd fmla="val 2155" name="adj"/>
              </a:avLst>
            </a:prstGeom>
            <a:solidFill>
              <a:srgbClr val="D98B54">
                <a:alpha val="15190"/>
              </a:srgb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98" name="Google Shape;98;p6"/>
            <p:cNvSpPr txBox="1"/>
            <p:nvPr/>
          </p:nvSpPr>
          <p:spPr>
            <a:xfrm>
              <a:off x="1810900" y="4749100"/>
              <a:ext cx="2638500" cy="1151700"/>
            </a:xfrm>
            <a:prstGeom prst="rect">
              <a:avLst/>
            </a:prstGeom>
            <a:noFill/>
            <a:ln>
              <a:noFill/>
            </a:ln>
          </p:spPr>
          <p:txBody>
            <a:bodyPr anchorCtr="0" anchor="t" bIns="0" lIns="400050" spcFirstLastPara="1" rIns="0" wrap="square" tIns="0">
              <a:noAutofit/>
            </a:bodyPr>
            <a:lstStyle/>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Build healthier meals </a:t>
              </a:r>
              <a:r>
                <a:rPr lang="en-US" sz="1200">
                  <a:solidFill>
                    <a:srgbClr val="55594C"/>
                  </a:solidFill>
                  <a:latin typeface="IBM Plex Sans"/>
                  <a:ea typeface="IBM Plex Sans"/>
                  <a:cs typeface="IBM Plex Sans"/>
                  <a:sym typeface="IBM Plex Sans"/>
                </a:rPr>
                <a:t>around familiar foods</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Improve portions</a:t>
              </a:r>
              <a:r>
                <a:rPr b="1" lang="en-US" sz="1200">
                  <a:solidFill>
                    <a:srgbClr val="55594C"/>
                  </a:solidFill>
                  <a:latin typeface="IBM Plex Sans"/>
                  <a:ea typeface="IBM Plex Sans"/>
                  <a:cs typeface="IBM Plex Sans"/>
                  <a:sym typeface="IBM Plex Sans"/>
                </a:rPr>
                <a:t> </a:t>
              </a:r>
              <a:r>
                <a:rPr lang="en-US" sz="1200">
                  <a:solidFill>
                    <a:srgbClr val="55594C"/>
                  </a:solidFill>
                  <a:latin typeface="IBM Plex Sans"/>
                  <a:ea typeface="IBM Plex Sans"/>
                  <a:cs typeface="IBM Plex Sans"/>
                  <a:sym typeface="IBM Plex Sans"/>
                </a:rPr>
                <a:t>and nutritional balance</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B85C2C"/>
                  </a:solidFill>
                  <a:latin typeface="IBM Plex Sans"/>
                  <a:ea typeface="IBM Plex Sans"/>
                  <a:cs typeface="IBM Plex Sans"/>
                  <a:sym typeface="IBM Plex Sans"/>
                </a:rPr>
                <a:t>Introduce healthier alternatives </a:t>
              </a:r>
              <a:r>
                <a:rPr lang="en-US" sz="1200">
                  <a:solidFill>
                    <a:srgbClr val="55594C"/>
                  </a:solidFill>
                  <a:latin typeface="IBM Plex Sans"/>
                  <a:ea typeface="IBM Plex Sans"/>
                  <a:cs typeface="IBM Plex Sans"/>
                  <a:sym typeface="IBM Plex Sans"/>
                </a:rPr>
                <a:t>gradually</a:t>
              </a:r>
              <a:endParaRPr sz="1200">
                <a:solidFill>
                  <a:srgbClr val="55594C"/>
                </a:solidFill>
                <a:latin typeface="IBM Plex Sans"/>
                <a:ea typeface="IBM Plex Sans"/>
                <a:cs typeface="IBM Plex Sans"/>
                <a:sym typeface="IBM Plex Sans"/>
              </a:endParaRPr>
            </a:p>
          </p:txBody>
        </p:sp>
      </p:grpSp>
      <p:grpSp>
        <p:nvGrpSpPr>
          <p:cNvPr id="99" name="Google Shape;99;p6"/>
          <p:cNvGrpSpPr/>
          <p:nvPr/>
        </p:nvGrpSpPr>
        <p:grpSpPr>
          <a:xfrm>
            <a:off x="-54506" y="5818309"/>
            <a:ext cx="1639964" cy="447107"/>
            <a:chOff x="490544" y="3846700"/>
            <a:chExt cx="1970400" cy="327000"/>
          </a:xfrm>
        </p:grpSpPr>
        <p:sp>
          <p:nvSpPr>
            <p:cNvPr id="100" name="Google Shape;100;p6"/>
            <p:cNvSpPr/>
            <p:nvPr/>
          </p:nvSpPr>
          <p:spPr>
            <a:xfrm>
              <a:off x="861704" y="3846700"/>
              <a:ext cx="1203000" cy="327000"/>
            </a:xfrm>
            <a:prstGeom prst="roundRect">
              <a:avLst>
                <a:gd fmla="val 16667" name="adj"/>
              </a:avLst>
            </a:prstGeom>
            <a:solidFill>
              <a:srgbClr val="9FB08F"/>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101" name="Google Shape;101;p6"/>
            <p:cNvSpPr txBox="1"/>
            <p:nvPr/>
          </p:nvSpPr>
          <p:spPr>
            <a:xfrm>
              <a:off x="490544" y="3919548"/>
              <a:ext cx="1970400" cy="2382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B85C2C"/>
                </a:buClr>
                <a:buSzPts val="1200"/>
                <a:buFont typeface="IBM Plex Sans"/>
                <a:buNone/>
              </a:pPr>
              <a:r>
                <a:rPr b="1" lang="en-US">
                  <a:solidFill>
                    <a:schemeClr val="lt1"/>
                  </a:solidFill>
                  <a:latin typeface="IBM Plex Sans"/>
                  <a:ea typeface="IBM Plex Sans"/>
                  <a:cs typeface="IBM Plex Sans"/>
                  <a:sym typeface="IBM Plex Sans"/>
                </a:rPr>
                <a:t>SUCCESS</a:t>
              </a:r>
              <a:endParaRPr sz="1600">
                <a:solidFill>
                  <a:schemeClr val="lt1"/>
                </a:solidFill>
              </a:endParaRPr>
            </a:p>
          </p:txBody>
        </p:sp>
      </p:grpSp>
      <p:grpSp>
        <p:nvGrpSpPr>
          <p:cNvPr id="102" name="Google Shape;102;p6"/>
          <p:cNvGrpSpPr/>
          <p:nvPr/>
        </p:nvGrpSpPr>
        <p:grpSpPr>
          <a:xfrm>
            <a:off x="1528350" y="5352962"/>
            <a:ext cx="2921100" cy="1383900"/>
            <a:chOff x="1528350" y="4586750"/>
            <a:chExt cx="2921100" cy="1383900"/>
          </a:xfrm>
        </p:grpSpPr>
        <p:sp>
          <p:nvSpPr>
            <p:cNvPr id="103" name="Google Shape;103;p6"/>
            <p:cNvSpPr/>
            <p:nvPr/>
          </p:nvSpPr>
          <p:spPr>
            <a:xfrm>
              <a:off x="1528350" y="4586750"/>
              <a:ext cx="2921100" cy="1383900"/>
            </a:xfrm>
            <a:prstGeom prst="roundRect">
              <a:avLst>
                <a:gd fmla="val 2155" name="adj"/>
              </a:avLst>
            </a:prstGeom>
            <a:solidFill>
              <a:srgbClr val="70AD47">
                <a:alpha val="17720"/>
              </a:srgb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104" name="Google Shape;104;p6"/>
            <p:cNvSpPr txBox="1"/>
            <p:nvPr/>
          </p:nvSpPr>
          <p:spPr>
            <a:xfrm>
              <a:off x="1810900" y="4749100"/>
              <a:ext cx="2638500" cy="1151700"/>
            </a:xfrm>
            <a:prstGeom prst="rect">
              <a:avLst/>
            </a:prstGeom>
            <a:noFill/>
            <a:ln>
              <a:noFill/>
            </a:ln>
          </p:spPr>
          <p:txBody>
            <a:bodyPr anchorCtr="0" anchor="t" bIns="0" lIns="400050" spcFirstLastPara="1" rIns="0" wrap="square" tIns="0">
              <a:noAutofit/>
            </a:bodyPr>
            <a:lstStyle/>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Spends less time planning </a:t>
              </a:r>
              <a:r>
                <a:rPr lang="en-US" sz="1200">
                  <a:solidFill>
                    <a:srgbClr val="55594C"/>
                  </a:solidFill>
                  <a:latin typeface="IBM Plex Sans"/>
                  <a:ea typeface="IBM Plex Sans"/>
                  <a:cs typeface="IBM Plex Sans"/>
                  <a:sym typeface="IBM Plex Sans"/>
                </a:rPr>
                <a:t>and preparing meals</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Receives meals that fit</a:t>
              </a:r>
              <a:r>
                <a:rPr b="1" lang="en-US" sz="1200">
                  <a:solidFill>
                    <a:srgbClr val="55594C"/>
                  </a:solidFill>
                  <a:latin typeface="IBM Plex Sans"/>
                  <a:ea typeface="IBM Plex Sans"/>
                  <a:cs typeface="IBM Plex Sans"/>
                  <a:sym typeface="IBM Plex Sans"/>
                </a:rPr>
                <a:t> </a:t>
              </a:r>
              <a:r>
                <a:rPr lang="en-US" sz="1200">
                  <a:solidFill>
                    <a:srgbClr val="55594C"/>
                  </a:solidFill>
                  <a:latin typeface="IBM Plex Sans"/>
                  <a:ea typeface="IBM Plex Sans"/>
                  <a:cs typeface="IBM Plex Sans"/>
                  <a:sym typeface="IBM Plex Sans"/>
                </a:rPr>
                <a:t>their schedule</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Follows the plan</a:t>
              </a:r>
              <a:r>
                <a:rPr b="1" lang="en-US" sz="1200">
                  <a:solidFill>
                    <a:srgbClr val="274E13"/>
                  </a:solidFill>
                  <a:latin typeface="IBM Plex Sans"/>
                  <a:ea typeface="IBM Plex Sans"/>
                  <a:cs typeface="IBM Plex Sans"/>
                  <a:sym typeface="IBM Plex Sans"/>
                </a:rPr>
                <a:t> </a:t>
              </a:r>
              <a:r>
                <a:rPr lang="en-US" sz="1200">
                  <a:solidFill>
                    <a:srgbClr val="55594C"/>
                  </a:solidFill>
                  <a:latin typeface="IBM Plex Sans"/>
                  <a:ea typeface="IBM Plex Sans"/>
                  <a:cs typeface="IBM Plex Sans"/>
                  <a:sym typeface="IBM Plex Sans"/>
                </a:rPr>
                <a:t>with less decision fatigue</a:t>
              </a:r>
              <a:endParaRPr sz="1200">
                <a:solidFill>
                  <a:srgbClr val="55594C"/>
                </a:solidFill>
                <a:latin typeface="IBM Plex Sans"/>
                <a:ea typeface="IBM Plex Sans"/>
                <a:cs typeface="IBM Plex Sans"/>
                <a:sym typeface="IBM Plex Sans"/>
              </a:endParaRPr>
            </a:p>
          </p:txBody>
        </p:sp>
      </p:grpSp>
      <p:grpSp>
        <p:nvGrpSpPr>
          <p:cNvPr id="105" name="Google Shape;105;p6"/>
          <p:cNvGrpSpPr/>
          <p:nvPr/>
        </p:nvGrpSpPr>
        <p:grpSpPr>
          <a:xfrm>
            <a:off x="5175825" y="5349925"/>
            <a:ext cx="2921100" cy="1383900"/>
            <a:chOff x="1528350" y="4586750"/>
            <a:chExt cx="2921100" cy="1383900"/>
          </a:xfrm>
        </p:grpSpPr>
        <p:sp>
          <p:nvSpPr>
            <p:cNvPr id="106" name="Google Shape;106;p6"/>
            <p:cNvSpPr/>
            <p:nvPr/>
          </p:nvSpPr>
          <p:spPr>
            <a:xfrm>
              <a:off x="1528350" y="4586750"/>
              <a:ext cx="2921100" cy="1383900"/>
            </a:xfrm>
            <a:prstGeom prst="roundRect">
              <a:avLst>
                <a:gd fmla="val 2155" name="adj"/>
              </a:avLst>
            </a:prstGeom>
            <a:solidFill>
              <a:srgbClr val="70AD47">
                <a:alpha val="17720"/>
              </a:srgb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107" name="Google Shape;107;p6"/>
            <p:cNvSpPr txBox="1"/>
            <p:nvPr/>
          </p:nvSpPr>
          <p:spPr>
            <a:xfrm>
              <a:off x="1810900" y="4749100"/>
              <a:ext cx="2638500" cy="1151700"/>
            </a:xfrm>
            <a:prstGeom prst="rect">
              <a:avLst/>
            </a:prstGeom>
            <a:noFill/>
            <a:ln>
              <a:noFill/>
            </a:ln>
          </p:spPr>
          <p:txBody>
            <a:bodyPr anchorCtr="0" anchor="t" bIns="0" lIns="400050" spcFirstLastPara="1" rIns="0" wrap="square" tIns="0">
              <a:noAutofit/>
            </a:bodyPr>
            <a:lstStyle/>
            <a:p>
              <a:pPr indent="-304800" lvl="0" marL="0" rtl="0" algn="l">
                <a:spcBef>
                  <a:spcPts val="0"/>
                </a:spcBef>
                <a:spcAft>
                  <a:spcPts val="0"/>
                </a:spcAft>
                <a:buClr>
                  <a:srgbClr val="38761D"/>
                </a:buClr>
                <a:buSzPts val="1200"/>
                <a:buFont typeface="IBM Plex Sans"/>
                <a:buChar char="●"/>
              </a:pPr>
              <a:r>
                <a:rPr b="1" lang="en-US" sz="1200">
                  <a:solidFill>
                    <a:srgbClr val="38761D"/>
                  </a:solidFill>
                  <a:latin typeface="IBM Plex Sans"/>
                  <a:ea typeface="IBM Plex Sans"/>
                  <a:cs typeface="IBM Plex Sans"/>
                  <a:sym typeface="IBM Plex Sans"/>
                </a:rPr>
                <a:t>Keeps the grocery cart within budget</a:t>
              </a:r>
              <a:endParaRPr b="1" sz="1200">
                <a:solidFill>
                  <a:srgbClr val="38761D"/>
                </a:solidFill>
                <a:latin typeface="IBM Plex Sans"/>
                <a:ea typeface="IBM Plex Sans"/>
                <a:cs typeface="IBM Plex Sans"/>
                <a:sym typeface="IBM Plex Sans"/>
              </a:endParaRPr>
            </a:p>
            <a:p>
              <a:pPr indent="-304800" lvl="0" marL="0" rtl="0" algn="l">
                <a:spcBef>
                  <a:spcPts val="0"/>
                </a:spcBef>
                <a:spcAft>
                  <a:spcPts val="0"/>
                </a:spcAft>
                <a:buClr>
                  <a:srgbClr val="38761D"/>
                </a:buClr>
                <a:buSzPts val="1200"/>
                <a:buFont typeface="IBM Plex Sans"/>
                <a:buChar char="●"/>
              </a:pPr>
              <a:r>
                <a:rPr b="1" lang="en-US" sz="1200">
                  <a:solidFill>
                    <a:srgbClr val="38761D"/>
                  </a:solidFill>
                  <a:latin typeface="IBM Plex Sans"/>
                  <a:ea typeface="IBM Plex Sans"/>
                  <a:cs typeface="IBM Plex Sans"/>
                  <a:sym typeface="IBM Plex Sans"/>
                </a:rPr>
                <a:t>Avoids unnecessary purchases</a:t>
              </a:r>
              <a:endParaRPr b="1" sz="1200">
                <a:solidFill>
                  <a:srgbClr val="38761D"/>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Uses more of what is purchased</a:t>
              </a:r>
              <a:r>
                <a:rPr b="1" lang="en-US" sz="1200">
                  <a:solidFill>
                    <a:srgbClr val="55594C"/>
                  </a:solidFill>
                  <a:latin typeface="IBM Plex Sans"/>
                  <a:ea typeface="IBM Plex Sans"/>
                  <a:cs typeface="IBM Plex Sans"/>
                  <a:sym typeface="IBM Plex Sans"/>
                </a:rPr>
                <a:t> </a:t>
              </a:r>
              <a:r>
                <a:rPr lang="en-US" sz="1200">
                  <a:solidFill>
                    <a:srgbClr val="55594C"/>
                  </a:solidFill>
                  <a:latin typeface="IBM Plex Sans"/>
                  <a:ea typeface="IBM Plex Sans"/>
                  <a:cs typeface="IBM Plex Sans"/>
                  <a:sym typeface="IBM Plex Sans"/>
                </a:rPr>
                <a:t>and wastes less food</a:t>
              </a:r>
              <a:endParaRPr sz="1200">
                <a:solidFill>
                  <a:srgbClr val="55594C"/>
                </a:solidFill>
                <a:latin typeface="IBM Plex Sans"/>
                <a:ea typeface="IBM Plex Sans"/>
                <a:cs typeface="IBM Plex Sans"/>
                <a:sym typeface="IBM Plex Sans"/>
              </a:endParaRPr>
            </a:p>
          </p:txBody>
        </p:sp>
      </p:grpSp>
      <p:grpSp>
        <p:nvGrpSpPr>
          <p:cNvPr id="108" name="Google Shape;108;p6"/>
          <p:cNvGrpSpPr/>
          <p:nvPr/>
        </p:nvGrpSpPr>
        <p:grpSpPr>
          <a:xfrm>
            <a:off x="8865525" y="5357850"/>
            <a:ext cx="2921100" cy="1383900"/>
            <a:chOff x="1528350" y="4586750"/>
            <a:chExt cx="2921100" cy="1383900"/>
          </a:xfrm>
        </p:grpSpPr>
        <p:sp>
          <p:nvSpPr>
            <p:cNvPr id="109" name="Google Shape;109;p6"/>
            <p:cNvSpPr/>
            <p:nvPr/>
          </p:nvSpPr>
          <p:spPr>
            <a:xfrm>
              <a:off x="1528350" y="4586750"/>
              <a:ext cx="2921100" cy="1383900"/>
            </a:xfrm>
            <a:prstGeom prst="roundRect">
              <a:avLst>
                <a:gd fmla="val 2155" name="adj"/>
              </a:avLst>
            </a:prstGeom>
            <a:solidFill>
              <a:srgbClr val="70AD47">
                <a:alpha val="17720"/>
              </a:srgbClr>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
          <p:nvSpPr>
            <p:cNvPr id="110" name="Google Shape;110;p6"/>
            <p:cNvSpPr txBox="1"/>
            <p:nvPr/>
          </p:nvSpPr>
          <p:spPr>
            <a:xfrm>
              <a:off x="1810900" y="4749100"/>
              <a:ext cx="2638500" cy="1151700"/>
            </a:xfrm>
            <a:prstGeom prst="rect">
              <a:avLst/>
            </a:prstGeom>
            <a:noFill/>
            <a:ln>
              <a:noFill/>
            </a:ln>
          </p:spPr>
          <p:txBody>
            <a:bodyPr anchorCtr="0" anchor="t" bIns="0" lIns="400050" spcFirstLastPara="1" rIns="0" wrap="square" tIns="0">
              <a:noAutofit/>
            </a:bodyPr>
            <a:lstStyle/>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Makes manageable changes </a:t>
              </a:r>
              <a:r>
                <a:rPr lang="en-US" sz="1200">
                  <a:solidFill>
                    <a:srgbClr val="55594C"/>
                  </a:solidFill>
                  <a:latin typeface="IBM Plex Sans"/>
                  <a:ea typeface="IBM Plex Sans"/>
                  <a:cs typeface="IBM Plex Sans"/>
                  <a:sym typeface="IBM Plex Sans"/>
                </a:rPr>
                <a:t>without restrictive dieting</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Follows the plan </a:t>
              </a:r>
              <a:r>
                <a:rPr lang="en-US" sz="1200">
                  <a:solidFill>
                    <a:srgbClr val="55594C"/>
                  </a:solidFill>
                  <a:latin typeface="IBM Plex Sans"/>
                  <a:ea typeface="IBM Plex Sans"/>
                  <a:cs typeface="IBM Plex Sans"/>
                  <a:sym typeface="IBM Plex Sans"/>
                </a:rPr>
                <a:t>more consistently</a:t>
              </a:r>
              <a:endParaRPr sz="1200">
                <a:solidFill>
                  <a:srgbClr val="55594C"/>
                </a:solidFill>
                <a:latin typeface="IBM Plex Sans"/>
                <a:ea typeface="IBM Plex Sans"/>
                <a:cs typeface="IBM Plex Sans"/>
                <a:sym typeface="IBM Plex Sans"/>
              </a:endParaRPr>
            </a:p>
            <a:p>
              <a:pPr indent="-304800" lvl="0" marL="0" rtl="0" algn="l">
                <a:spcBef>
                  <a:spcPts val="0"/>
                </a:spcBef>
                <a:spcAft>
                  <a:spcPts val="0"/>
                </a:spcAft>
                <a:buClr>
                  <a:srgbClr val="55594C"/>
                </a:buClr>
                <a:buSzPts val="1200"/>
                <a:buFont typeface="IBM Plex Sans"/>
                <a:buChar char="●"/>
              </a:pPr>
              <a:r>
                <a:rPr b="1" lang="en-US" sz="1200">
                  <a:solidFill>
                    <a:srgbClr val="38761D"/>
                  </a:solidFill>
                  <a:latin typeface="IBM Plex Sans"/>
                  <a:ea typeface="IBM Plex Sans"/>
                  <a:cs typeface="IBM Plex Sans"/>
                  <a:sym typeface="IBM Plex Sans"/>
                </a:rPr>
                <a:t>Develops healthier habits </a:t>
              </a:r>
              <a:r>
                <a:rPr lang="en-US" sz="1200">
                  <a:solidFill>
                    <a:srgbClr val="55594C"/>
                  </a:solidFill>
                  <a:latin typeface="IBM Plex Sans"/>
                  <a:ea typeface="IBM Plex Sans"/>
                  <a:cs typeface="IBM Plex Sans"/>
                  <a:sym typeface="IBM Plex Sans"/>
                </a:rPr>
                <a:t>that are easier to sustain</a:t>
              </a:r>
              <a:endParaRPr sz="1200">
                <a:solidFill>
                  <a:srgbClr val="55594C"/>
                </a:solidFill>
                <a:latin typeface="IBM Plex Sans"/>
                <a:ea typeface="IBM Plex Sans"/>
                <a:cs typeface="IBM Plex Sans"/>
                <a:sym typeface="IBM Plex Sans"/>
              </a:endParaRPr>
            </a:p>
          </p:txBody>
        </p:sp>
      </p:grpSp>
      <p:pic>
        <p:nvPicPr>
          <p:cNvPr id="111" name="Google Shape;111;p6"/>
          <p:cNvPicPr preferRelativeResize="0"/>
          <p:nvPr/>
        </p:nvPicPr>
        <p:blipFill>
          <a:blip r:embed="rId5">
            <a:alphaModFix/>
          </a:blip>
          <a:stretch>
            <a:fillRect/>
          </a:stretch>
        </p:blipFill>
        <p:spPr>
          <a:xfrm>
            <a:off x="9797413" y="984413"/>
            <a:ext cx="1057325" cy="1057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3EA"/>
        </a:solidFill>
      </p:bgPr>
    </p:bg>
    <p:spTree>
      <p:nvGrpSpPr>
        <p:cNvPr id="116" name="Shape 116"/>
        <p:cNvGrpSpPr/>
        <p:nvPr/>
      </p:nvGrpSpPr>
      <p:grpSpPr>
        <a:xfrm>
          <a:off x="0" y="0"/>
          <a:ext cx="0" cy="0"/>
          <a:chOff x="0" y="0"/>
          <a:chExt cx="0" cy="0"/>
        </a:xfrm>
      </p:grpSpPr>
      <p:sp>
        <p:nvSpPr>
          <p:cNvPr id="117" name="Google Shape;117;p7"/>
          <p:cNvSpPr/>
          <p:nvPr/>
        </p:nvSpPr>
        <p:spPr>
          <a:xfrm>
            <a:off x="748098" y="1135858"/>
            <a:ext cx="10572900" cy="34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750">
                <a:solidFill>
                  <a:srgbClr val="B85C2C"/>
                </a:solidFill>
                <a:latin typeface="IBM Plex Sans SemiBold"/>
                <a:ea typeface="IBM Plex Sans SemiBold"/>
                <a:cs typeface="IBM Plex Sans SemiBold"/>
                <a:sym typeface="IBM Plex Sans SemiBold"/>
              </a:rPr>
              <a:t>Most tools create a plan, but fewer adapt </a:t>
            </a:r>
            <a:r>
              <a:rPr lang="en-US" sz="1750">
                <a:solidFill>
                  <a:srgbClr val="6E756E"/>
                </a:solidFill>
                <a:latin typeface="IBM Plex Sans SemiBold"/>
                <a:ea typeface="IBM Plex Sans SemiBold"/>
                <a:cs typeface="IBM Plex Sans SemiBold"/>
                <a:sym typeface="IBM Plex Sans SemiBold"/>
              </a:rPr>
              <a:t>when schedules, budgets, preferences, and habits change.</a:t>
            </a:r>
            <a:endParaRPr sz="1800">
              <a:latin typeface="IBM Plex Sans SemiBold"/>
              <a:ea typeface="IBM Plex Sans SemiBold"/>
              <a:cs typeface="IBM Plex Sans SemiBold"/>
              <a:sym typeface="IBM Plex Sans SemiBold"/>
            </a:endParaRPr>
          </a:p>
        </p:txBody>
      </p:sp>
      <p:graphicFrame>
        <p:nvGraphicFramePr>
          <p:cNvPr id="118" name="Google Shape;118;p7"/>
          <p:cNvGraphicFramePr/>
          <p:nvPr/>
        </p:nvGraphicFramePr>
        <p:xfrm>
          <a:off x="781050" y="1599278"/>
          <a:ext cx="3000000" cy="3000000"/>
        </p:xfrm>
        <a:graphic>
          <a:graphicData uri="http://schemas.openxmlformats.org/drawingml/2006/table">
            <a:tbl>
              <a:tblPr>
                <a:noFill/>
                <a:tableStyleId>{E2450A5D-874C-44E7-B43B-C4823E5B1719}</a:tableStyleId>
              </a:tblPr>
              <a:tblGrid>
                <a:gridCol w="2621075"/>
                <a:gridCol w="3931600"/>
                <a:gridCol w="4077225"/>
              </a:tblGrid>
              <a:tr h="533400">
                <a:tc>
                  <a:txBody>
                    <a:bodyPr/>
                    <a:lstStyle/>
                    <a:p>
                      <a:pPr indent="0" lvl="0" marL="0" marR="0" rtl="0" algn="ctr">
                        <a:spcBef>
                          <a:spcPts val="0"/>
                        </a:spcBef>
                        <a:spcAft>
                          <a:spcPts val="0"/>
                        </a:spcAft>
                        <a:buClr>
                          <a:srgbClr val="1D3423"/>
                        </a:buClr>
                        <a:buSzPts val="1275"/>
                        <a:buFont typeface="Arial"/>
                        <a:buNone/>
                      </a:pPr>
                      <a:r>
                        <a:rPr b="1" lang="en-US" sz="1375" u="none" cap="none" strike="noStrike">
                          <a:solidFill>
                            <a:srgbClr val="1D3423"/>
                          </a:solidFill>
                          <a:latin typeface="IBM Plex Sans"/>
                          <a:ea typeface="IBM Plex Sans"/>
                          <a:cs typeface="IBM Plex Sans"/>
                          <a:sym typeface="IBM Plex Sans"/>
                        </a:rPr>
                        <a:t>SYSTEM / TOOL</a:t>
                      </a:r>
                      <a:endParaRPr sz="15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5E3DB"/>
                    </a:solidFill>
                  </a:tcPr>
                </a:tc>
                <a:tc>
                  <a:txBody>
                    <a:bodyPr/>
                    <a:lstStyle/>
                    <a:p>
                      <a:pPr indent="0" lvl="0" marL="0" marR="0" rtl="0" algn="ctr">
                        <a:spcBef>
                          <a:spcPts val="0"/>
                        </a:spcBef>
                        <a:spcAft>
                          <a:spcPts val="0"/>
                        </a:spcAft>
                        <a:buClr>
                          <a:srgbClr val="1D3423"/>
                        </a:buClr>
                        <a:buSzPts val="1275"/>
                        <a:buFont typeface="Arial"/>
                        <a:buNone/>
                      </a:pPr>
                      <a:r>
                        <a:rPr b="1" lang="en-US" sz="1375">
                          <a:solidFill>
                            <a:srgbClr val="1D3423"/>
                          </a:solidFill>
                          <a:latin typeface="IBM Plex Sans"/>
                          <a:ea typeface="IBM Plex Sans"/>
                          <a:cs typeface="IBM Plex Sans"/>
                          <a:sym typeface="IBM Plex Sans"/>
                        </a:rPr>
                        <a:t>WHAT IT DOES WELL</a:t>
                      </a:r>
                      <a:endParaRPr sz="15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5E3DB"/>
                    </a:solidFill>
                  </a:tcPr>
                </a:tc>
                <a:tc>
                  <a:txBody>
                    <a:bodyPr/>
                    <a:lstStyle/>
                    <a:p>
                      <a:pPr indent="0" lvl="0" marL="0" marR="0" rtl="0" algn="ctr">
                        <a:spcBef>
                          <a:spcPts val="0"/>
                        </a:spcBef>
                        <a:spcAft>
                          <a:spcPts val="0"/>
                        </a:spcAft>
                        <a:buClr>
                          <a:srgbClr val="1D3423"/>
                        </a:buClr>
                        <a:buSzPts val="1275"/>
                        <a:buFont typeface="Arial"/>
                        <a:buNone/>
                      </a:pPr>
                      <a:r>
                        <a:rPr b="1" lang="en-US" sz="1375">
                          <a:solidFill>
                            <a:srgbClr val="1D3423"/>
                          </a:solidFill>
                          <a:latin typeface="IBM Plex Sans"/>
                          <a:ea typeface="IBM Plex Sans"/>
                          <a:cs typeface="IBM Plex Sans"/>
                          <a:sym typeface="IBM Plex Sans"/>
                        </a:rPr>
                        <a:t>WHERE IT FALLS SHORT</a:t>
                      </a:r>
                      <a:endParaRPr sz="15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5E3DB"/>
                    </a:solidFill>
                  </a:tcPr>
                </a:tc>
              </a:tr>
              <a:tr h="1028700">
                <a:tc>
                  <a:txBody>
                    <a:bodyPr/>
                    <a:lstStyle/>
                    <a:p>
                      <a:pPr indent="0" lvl="0" marL="0" marR="0" rtl="0" algn="ctr">
                        <a:spcBef>
                          <a:spcPts val="0"/>
                        </a:spcBef>
                        <a:spcAft>
                          <a:spcPts val="0"/>
                        </a:spcAft>
                        <a:buClr>
                          <a:srgbClr val="1D3423"/>
                        </a:buClr>
                        <a:buSzPts val="1200"/>
                        <a:buFont typeface="Arial"/>
                        <a:buNone/>
                      </a:pPr>
                      <a:r>
                        <a:rPr b="1" lang="en-US" sz="1500">
                          <a:solidFill>
                            <a:srgbClr val="B85C2C"/>
                          </a:solidFill>
                          <a:latin typeface="IBM Plex Sans"/>
                          <a:ea typeface="IBM Plex Sans"/>
                          <a:cs typeface="IBM Plex Sans"/>
                          <a:sym typeface="IBM Plex Sans"/>
                        </a:rPr>
                        <a:t>LLM-POWERED </a:t>
                      </a:r>
                      <a:r>
                        <a:rPr b="1" lang="en-US" sz="1500">
                          <a:solidFill>
                            <a:srgbClr val="B85C2C"/>
                          </a:solidFill>
                          <a:latin typeface="IBM Plex Sans"/>
                          <a:ea typeface="IBM Plex Sans"/>
                          <a:cs typeface="IBM Plex Sans"/>
                          <a:sym typeface="IBM Plex Sans"/>
                        </a:rPr>
                        <a:t> MEAL PLANNERS</a:t>
                      </a:r>
                      <a:endParaRPr b="1" sz="1500">
                        <a:solidFill>
                          <a:srgbClr val="B85C2C"/>
                        </a:solidFill>
                        <a:latin typeface="IBM Plex Sans"/>
                        <a:ea typeface="IBM Plex Sans"/>
                        <a:cs typeface="IBM Plex Sans"/>
                        <a:sym typeface="IBM Plex Sans"/>
                      </a:endParaRPr>
                    </a:p>
                    <a:p>
                      <a:pPr indent="0" lvl="0" marL="0" marR="0" rtl="0" algn="l">
                        <a:spcBef>
                          <a:spcPts val="0"/>
                        </a:spcBef>
                        <a:spcAft>
                          <a:spcPts val="0"/>
                        </a:spcAft>
                        <a:buClr>
                          <a:srgbClr val="1D3423"/>
                        </a:buClr>
                        <a:buSzPts val="1200"/>
                        <a:buFont typeface="Arial"/>
                        <a:buNone/>
                      </a:pPr>
                      <a:r>
                        <a:t/>
                      </a:r>
                      <a:endParaRPr i="1" sz="1300">
                        <a:solidFill>
                          <a:srgbClr val="1D3423"/>
                        </a:solidFill>
                        <a:latin typeface="IBM Plex Sans"/>
                        <a:ea typeface="IBM Plex Sans"/>
                        <a:cs typeface="IBM Plex Sans"/>
                        <a:sym typeface="IBM Plex Sans"/>
                      </a:endParaRPr>
                    </a:p>
                    <a:p>
                      <a:pPr indent="0" lvl="0" marL="0" marR="0" rtl="0" algn="ctr">
                        <a:spcBef>
                          <a:spcPts val="0"/>
                        </a:spcBef>
                        <a:spcAft>
                          <a:spcPts val="0"/>
                        </a:spcAft>
                        <a:buClr>
                          <a:srgbClr val="1D3423"/>
                        </a:buClr>
                        <a:buSzPts val="1200"/>
                        <a:buFont typeface="Arial"/>
                        <a:buNone/>
                      </a:pPr>
                      <a:r>
                        <a:rPr i="1" lang="en-US" sz="1300">
                          <a:solidFill>
                            <a:srgbClr val="1D3423"/>
                          </a:solidFill>
                          <a:latin typeface="IBM Plex Sans"/>
                          <a:ea typeface="IBM Plex Sans"/>
                          <a:cs typeface="IBM Plex Sans"/>
                          <a:sym typeface="IBM Plex Sans"/>
                        </a:rPr>
                        <a:t>e.g., </a:t>
                      </a:r>
                      <a:r>
                        <a:rPr i="1" lang="en-US" sz="1300">
                          <a:solidFill>
                            <a:srgbClr val="1D3423"/>
                          </a:solidFill>
                          <a:latin typeface="IBM Plex Sans"/>
                          <a:ea typeface="IBM Plex Sans"/>
                          <a:cs typeface="IBM Plex Sans"/>
                          <a:sym typeface="IBM Plex Sans"/>
                        </a:rPr>
                        <a:t>NutriGen + VAE/ChatGPT Frameworks</a:t>
                      </a:r>
                      <a:endParaRPr i="1" sz="15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CFAF5"/>
                    </a:solidFill>
                  </a:tcPr>
                </a:tc>
                <a:tc>
                  <a:txBody>
                    <a:bodyPr/>
                    <a:lstStyle/>
                    <a:p>
                      <a:pPr indent="0" lvl="0" marL="0" marR="0" rtl="0" algn="l">
                        <a:spcBef>
                          <a:spcPts val="0"/>
                        </a:spcBef>
                        <a:spcAft>
                          <a:spcPts val="0"/>
                        </a:spcAft>
                        <a:buClr>
                          <a:srgbClr val="37433A"/>
                        </a:buClr>
                        <a:buSzPts val="1140"/>
                        <a:buFont typeface="Arial"/>
                        <a:buNone/>
                      </a:pPr>
                      <a:r>
                        <a:rPr b="1" lang="en-US" sz="1440">
                          <a:solidFill>
                            <a:srgbClr val="38761D"/>
                          </a:solidFill>
                          <a:latin typeface="IBM Plex Sans"/>
                          <a:ea typeface="IBM Plex Sans"/>
                          <a:cs typeface="IBM Plex Sans"/>
                          <a:sym typeface="IBM Plex Sans"/>
                        </a:rPr>
                        <a:t>✅ </a:t>
                      </a:r>
                      <a:r>
                        <a:rPr b="1" lang="en-US" sz="1440">
                          <a:solidFill>
                            <a:srgbClr val="38761D"/>
                          </a:solidFill>
                          <a:latin typeface="IBM Plex Sans"/>
                          <a:ea typeface="IBM Plex Sans"/>
                          <a:cs typeface="IBM Plex Sans"/>
                          <a:sym typeface="IBM Plex Sans"/>
                        </a:rPr>
                        <a:t>Create personalized weekly plans</a:t>
                      </a:r>
                      <a:r>
                        <a:rPr lang="en-US" sz="1440">
                          <a:solidFill>
                            <a:srgbClr val="37433A"/>
                          </a:solidFill>
                          <a:latin typeface="IBM Plex Sans"/>
                          <a:ea typeface="IBM Plex Sans"/>
                          <a:cs typeface="IBM Plex Sans"/>
                          <a:sym typeface="IBM Plex Sans"/>
                        </a:rPr>
                        <a:t> grounded in nutrition guidelines and verified data.</a:t>
                      </a:r>
                      <a:endParaRPr sz="1700">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rPr b="1" lang="en-US" sz="1440">
                          <a:solidFill>
                            <a:srgbClr val="38761D"/>
                          </a:solidFill>
                          <a:latin typeface="IBM Plex Sans"/>
                          <a:ea typeface="IBM Plex Sans"/>
                          <a:cs typeface="IBM Plex Sans"/>
                          <a:sym typeface="IBM Plex Sans"/>
                        </a:rPr>
                        <a:t>✅ </a:t>
                      </a:r>
                      <a:r>
                        <a:rPr b="1" lang="en-US" sz="1440">
                          <a:solidFill>
                            <a:srgbClr val="38761D"/>
                          </a:solidFill>
                          <a:latin typeface="IBM Plex Sans"/>
                          <a:ea typeface="IBM Plex Sans"/>
                          <a:cs typeface="IBM Plex Sans"/>
                          <a:sym typeface="IBM Plex Sans"/>
                        </a:rPr>
                        <a:t>Strong calorie and nutrient accuracy</a:t>
                      </a:r>
                      <a:r>
                        <a:rPr lang="en-US" sz="1440">
                          <a:solidFill>
                            <a:srgbClr val="38761D"/>
                          </a:solidFill>
                          <a:latin typeface="IBM Plex Sans"/>
                          <a:ea typeface="IBM Plex Sans"/>
                          <a:cs typeface="IBM Plex Sans"/>
                          <a:sym typeface="IBM Plex Sans"/>
                        </a:rPr>
                        <a:t> </a:t>
                      </a:r>
                      <a:r>
                        <a:rPr lang="en-US" sz="1440">
                          <a:solidFill>
                            <a:srgbClr val="37433A"/>
                          </a:solidFill>
                          <a:latin typeface="IBM Plex Sans"/>
                          <a:ea typeface="IBM Plex Sans"/>
                          <a:cs typeface="IBM Plex Sans"/>
                          <a:sym typeface="IBM Plex Sans"/>
                        </a:rPr>
                        <a:t>across large evaluations.</a:t>
                      </a:r>
                      <a:endParaRPr sz="17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CFAF5"/>
                    </a:solidFill>
                  </a:tcPr>
                </a:tc>
                <a:tc>
                  <a:txBody>
                    <a:bodyPr/>
                    <a:lstStyle/>
                    <a:p>
                      <a:pPr indent="0" lvl="0" marL="0" marR="0" rtl="0" algn="l">
                        <a:spcBef>
                          <a:spcPts val="0"/>
                        </a:spcBef>
                        <a:spcAft>
                          <a:spcPts val="0"/>
                        </a:spcAft>
                        <a:buClr>
                          <a:srgbClr val="37433A"/>
                        </a:buClr>
                        <a:buSzPts val="1140"/>
                        <a:buFont typeface="Arial"/>
                        <a:buNone/>
                      </a:pPr>
                      <a:r>
                        <a:rPr lang="en-US" sz="1100">
                          <a:solidFill>
                            <a:srgbClr val="990000"/>
                          </a:solidFill>
                        </a:rPr>
                        <a:t>△</a:t>
                      </a:r>
                      <a:r>
                        <a:rPr lang="en-US" sz="1100">
                          <a:solidFill>
                            <a:schemeClr val="dk1"/>
                          </a:solidFill>
                        </a:rPr>
                        <a:t> </a:t>
                      </a:r>
                      <a:r>
                        <a:rPr b="1" lang="en-US" sz="1440">
                          <a:solidFill>
                            <a:srgbClr val="990000"/>
                          </a:solidFill>
                          <a:latin typeface="IBM Plex Sans"/>
                          <a:ea typeface="IBM Plex Sans"/>
                          <a:cs typeface="IBM Plex Sans"/>
                          <a:sym typeface="IBM Plex Sans"/>
                        </a:rPr>
                        <a:t>Stop at recommendation</a:t>
                      </a:r>
                      <a:r>
                        <a:rPr lang="en-US" sz="1440">
                          <a:solidFill>
                            <a:srgbClr val="37433A"/>
                          </a:solidFill>
                          <a:latin typeface="IBM Plex Sans"/>
                          <a:ea typeface="IBM Plex Sans"/>
                          <a:cs typeface="IBM Plex Sans"/>
                          <a:sym typeface="IBM Plex Sans"/>
                        </a:rPr>
                        <a:t>.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rPr lang="en-US" sz="1100">
                          <a:solidFill>
                            <a:srgbClr val="990000"/>
                          </a:solidFill>
                        </a:rPr>
                        <a:t>△ </a:t>
                      </a:r>
                      <a:r>
                        <a:rPr b="1" lang="en-US" sz="1440">
                          <a:solidFill>
                            <a:srgbClr val="990000"/>
                          </a:solidFill>
                          <a:latin typeface="IBM Plex Sans"/>
                          <a:ea typeface="IBM Plex Sans"/>
                          <a:cs typeface="IBM Plex Sans"/>
                          <a:sym typeface="IBM Plex Sans"/>
                        </a:rPr>
                        <a:t>No grocery cart, package-size logic, pantry-aware reuse, or adherence loop</a:t>
                      </a:r>
                      <a:r>
                        <a:rPr lang="en-US" sz="1440">
                          <a:solidFill>
                            <a:srgbClr val="37433A"/>
                          </a:solidFill>
                          <a:latin typeface="IBM Plex Sans"/>
                          <a:ea typeface="IBM Plex Sans"/>
                          <a:cs typeface="IBM Plex Sans"/>
                          <a:sym typeface="IBM Plex Sans"/>
                        </a:rPr>
                        <a:t>.</a:t>
                      </a:r>
                      <a:endParaRPr sz="17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CFAF5"/>
                    </a:solidFill>
                  </a:tcPr>
                </a:tc>
              </a:tr>
              <a:tr h="1028700">
                <a:tc>
                  <a:txBody>
                    <a:bodyPr/>
                    <a:lstStyle/>
                    <a:p>
                      <a:pPr indent="0" lvl="0" marL="0" rtl="0" algn="ctr">
                        <a:spcBef>
                          <a:spcPts val="0"/>
                        </a:spcBef>
                        <a:spcAft>
                          <a:spcPts val="0"/>
                        </a:spcAft>
                        <a:buClr>
                          <a:srgbClr val="1D3423"/>
                        </a:buClr>
                        <a:buSzPts val="1200"/>
                        <a:buFont typeface="Arial"/>
                        <a:buNone/>
                      </a:pPr>
                      <a:r>
                        <a:rPr b="1" lang="en-US" sz="1500">
                          <a:solidFill>
                            <a:srgbClr val="B85C2C"/>
                          </a:solidFill>
                          <a:latin typeface="IBM Plex Sans"/>
                          <a:ea typeface="IBM Plex Sans"/>
                          <a:cs typeface="IBM Plex Sans"/>
                          <a:sym typeface="IBM Plex Sans"/>
                        </a:rPr>
                        <a:t>BEHAVIORAL NUTRITION COACH</a:t>
                      </a:r>
                      <a:endParaRPr b="1" sz="1500">
                        <a:solidFill>
                          <a:srgbClr val="B85C2C"/>
                        </a:solidFill>
                        <a:latin typeface="IBM Plex Sans"/>
                        <a:ea typeface="IBM Plex Sans"/>
                        <a:cs typeface="IBM Plex Sans"/>
                        <a:sym typeface="IBM Plex Sans"/>
                      </a:endParaRPr>
                    </a:p>
                    <a:p>
                      <a:pPr indent="0" lvl="0" marL="0" rtl="0" algn="l">
                        <a:spcBef>
                          <a:spcPts val="0"/>
                        </a:spcBef>
                        <a:spcAft>
                          <a:spcPts val="0"/>
                        </a:spcAft>
                        <a:buClr>
                          <a:srgbClr val="1D3423"/>
                        </a:buClr>
                        <a:buSzPts val="1200"/>
                        <a:buFont typeface="Arial"/>
                        <a:buNone/>
                      </a:pPr>
                      <a:r>
                        <a:t/>
                      </a:r>
                      <a:endParaRPr i="1" sz="1300">
                        <a:solidFill>
                          <a:srgbClr val="1D3423"/>
                        </a:solidFill>
                        <a:latin typeface="IBM Plex Sans"/>
                        <a:ea typeface="IBM Plex Sans"/>
                        <a:cs typeface="IBM Plex Sans"/>
                        <a:sym typeface="IBM Plex Sans"/>
                      </a:endParaRPr>
                    </a:p>
                    <a:p>
                      <a:pPr indent="0" lvl="0" marL="0" rtl="0" algn="ctr">
                        <a:spcBef>
                          <a:spcPts val="0"/>
                        </a:spcBef>
                        <a:spcAft>
                          <a:spcPts val="0"/>
                        </a:spcAft>
                        <a:buClr>
                          <a:srgbClr val="1D3423"/>
                        </a:buClr>
                        <a:buSzPts val="1200"/>
                        <a:buFont typeface="Arial"/>
                        <a:buNone/>
                      </a:pPr>
                      <a:r>
                        <a:rPr i="1" lang="en-US" sz="1300">
                          <a:solidFill>
                            <a:srgbClr val="1D3423"/>
                          </a:solidFill>
                          <a:latin typeface="IBM Plex Sans"/>
                          <a:ea typeface="IBM Plex Sans"/>
                          <a:cs typeface="IBM Plex Sans"/>
                          <a:sym typeface="IBM Plex Sans"/>
                        </a:rPr>
                        <a:t>2-agent system for barrier identification and strategy execution</a:t>
                      </a:r>
                      <a:endParaRPr i="1" sz="1300">
                        <a:solidFill>
                          <a:srgbClr val="1D3423"/>
                        </a:solidFill>
                        <a:latin typeface="IBM Plex Sans"/>
                        <a:ea typeface="IBM Plex Sans"/>
                        <a:cs typeface="IBM Plex Sans"/>
                        <a:sym typeface="IBM Plex Sans"/>
                      </a:endParaRPr>
                    </a:p>
                    <a:p>
                      <a:pPr indent="0" lvl="0" marL="0" marR="0" rtl="0" algn="l">
                        <a:spcBef>
                          <a:spcPts val="0"/>
                        </a:spcBef>
                        <a:spcAft>
                          <a:spcPts val="0"/>
                        </a:spcAft>
                        <a:buClr>
                          <a:srgbClr val="1D3423"/>
                        </a:buClr>
                        <a:buSzPts val="1200"/>
                        <a:buFont typeface="Arial"/>
                        <a:buNone/>
                      </a:pPr>
                      <a:r>
                        <a:t/>
                      </a:r>
                      <a:endParaRPr b="1">
                        <a:solidFill>
                          <a:srgbClr val="1D3423"/>
                        </a:solidFill>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37433A"/>
                        </a:buClr>
                        <a:buSzPts val="1140"/>
                        <a:buFont typeface="Arial"/>
                        <a:buNone/>
                      </a:pPr>
                      <a:r>
                        <a:rPr b="1" lang="en-US" sz="1440">
                          <a:solidFill>
                            <a:srgbClr val="38761D"/>
                          </a:solidFill>
                          <a:latin typeface="IBM Plex Sans"/>
                          <a:ea typeface="IBM Plex Sans"/>
                          <a:cs typeface="IBM Plex Sans"/>
                          <a:sym typeface="IBM Plex Sans"/>
                        </a:rPr>
                        <a:t>✅ </a:t>
                      </a:r>
                      <a:r>
                        <a:rPr b="1" lang="en-US" sz="1440">
                          <a:solidFill>
                            <a:srgbClr val="38761D"/>
                          </a:solidFill>
                          <a:latin typeface="IBM Plex Sans"/>
                          <a:ea typeface="IBM Plex Sans"/>
                          <a:cs typeface="IBM Plex Sans"/>
                          <a:sym typeface="IBM Plex Sans"/>
                        </a:rPr>
                        <a:t>Identifies personal barriers </a:t>
                      </a:r>
                      <a:r>
                        <a:rPr lang="en-US" sz="1440">
                          <a:solidFill>
                            <a:srgbClr val="37433A"/>
                          </a:solidFill>
                          <a:latin typeface="IBM Plex Sans"/>
                          <a:ea typeface="IBM Plex Sans"/>
                          <a:cs typeface="IBM Plex Sans"/>
                          <a:sym typeface="IBM Plex Sans"/>
                        </a:rPr>
                        <a:t>and delivers tailored, evidence-based tactics.</a:t>
                      </a:r>
                      <a:endParaRPr sz="1700">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rPr lang="en-US" sz="1440">
                          <a:solidFill>
                            <a:srgbClr val="37433A"/>
                          </a:solidFill>
                          <a:latin typeface="IBM Plex Sans"/>
                          <a:ea typeface="IBM Plex Sans"/>
                          <a:cs typeface="IBM Plex Sans"/>
                          <a:sym typeface="IBM Plex Sans"/>
                        </a:rPr>
                        <a:t>Experts rated barrier identification above 90%.</a:t>
                      </a:r>
                      <a:endParaRPr sz="17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37433A"/>
                        </a:buClr>
                        <a:buSzPts val="1140"/>
                        <a:buFont typeface="Arial"/>
                        <a:buNone/>
                      </a:pPr>
                      <a:r>
                        <a:rPr lang="en-US" sz="1100">
                          <a:solidFill>
                            <a:srgbClr val="990000"/>
                          </a:solidFill>
                        </a:rPr>
                        <a:t>△ </a:t>
                      </a:r>
                      <a:r>
                        <a:rPr lang="en-US" sz="1440">
                          <a:solidFill>
                            <a:srgbClr val="37433A"/>
                          </a:solidFill>
                          <a:latin typeface="IBM Plex Sans"/>
                          <a:ea typeface="IBM Plex Sans"/>
                          <a:cs typeface="IBM Plex Sans"/>
                          <a:sym typeface="IBM Plex Sans"/>
                        </a:rPr>
                        <a:t>Coaches behavior but </a:t>
                      </a:r>
                      <a:r>
                        <a:rPr b="1" lang="en-US" sz="1440">
                          <a:solidFill>
                            <a:srgbClr val="990000"/>
                          </a:solidFill>
                          <a:latin typeface="IBM Plex Sans"/>
                          <a:ea typeface="IBM Plex Sans"/>
                          <a:cs typeface="IBM Plex Sans"/>
                          <a:sym typeface="IBM Plex Sans"/>
                        </a:rPr>
                        <a:t>does not build meals, optimize ingredients, or execute shopping</a:t>
                      </a:r>
                      <a:r>
                        <a:rPr lang="en-US" sz="1440">
                          <a:solidFill>
                            <a:srgbClr val="37433A"/>
                          </a:solidFill>
                          <a:latin typeface="IBM Plex Sans"/>
                          <a:ea typeface="IBM Plex Sans"/>
                          <a:cs typeface="IBM Plex Sans"/>
                          <a:sym typeface="IBM Plex Sans"/>
                        </a:rPr>
                        <a:t> tasks.</a:t>
                      </a:r>
                      <a:endParaRPr sz="17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1047750">
                <a:tc>
                  <a:txBody>
                    <a:bodyPr/>
                    <a:lstStyle/>
                    <a:p>
                      <a:pPr indent="0" lvl="0" marL="0" rtl="0" algn="ctr">
                        <a:spcBef>
                          <a:spcPts val="0"/>
                        </a:spcBef>
                        <a:spcAft>
                          <a:spcPts val="0"/>
                        </a:spcAft>
                        <a:buClr>
                          <a:srgbClr val="1D3423"/>
                        </a:buClr>
                        <a:buSzPts val="1200"/>
                        <a:buFont typeface="Arial"/>
                        <a:buNone/>
                      </a:pPr>
                      <a:r>
                        <a:rPr b="1" lang="en-US" sz="1500">
                          <a:solidFill>
                            <a:srgbClr val="B85C2C"/>
                          </a:solidFill>
                          <a:latin typeface="IBM Plex Sans"/>
                          <a:ea typeface="IBM Plex Sans"/>
                          <a:cs typeface="IBM Plex Sans"/>
                          <a:sym typeface="IBM Plex Sans"/>
                        </a:rPr>
                        <a:t>AI SHOPPING AGENTS</a:t>
                      </a:r>
                      <a:endParaRPr b="1" sz="1500">
                        <a:solidFill>
                          <a:srgbClr val="B85C2C"/>
                        </a:solidFill>
                        <a:latin typeface="IBM Plex Sans"/>
                        <a:ea typeface="IBM Plex Sans"/>
                        <a:cs typeface="IBM Plex Sans"/>
                        <a:sym typeface="IBM Plex Sans"/>
                      </a:endParaRPr>
                    </a:p>
                    <a:p>
                      <a:pPr indent="0" lvl="0" marL="0" rtl="0" algn="ctr">
                        <a:spcBef>
                          <a:spcPts val="0"/>
                        </a:spcBef>
                        <a:spcAft>
                          <a:spcPts val="0"/>
                        </a:spcAft>
                        <a:buClr>
                          <a:srgbClr val="1D3423"/>
                        </a:buClr>
                        <a:buSzPts val="1200"/>
                        <a:buFont typeface="Arial"/>
                        <a:buNone/>
                      </a:pPr>
                      <a:r>
                        <a:t/>
                      </a:r>
                      <a:endParaRPr i="1" sz="1300">
                        <a:solidFill>
                          <a:srgbClr val="1D3423"/>
                        </a:solidFill>
                        <a:latin typeface="IBM Plex Sans"/>
                        <a:ea typeface="IBM Plex Sans"/>
                        <a:cs typeface="IBM Plex Sans"/>
                        <a:sym typeface="IBM Plex Sans"/>
                      </a:endParaRPr>
                    </a:p>
                    <a:p>
                      <a:pPr indent="0" lvl="0" marL="0" rtl="0" algn="ctr">
                        <a:spcBef>
                          <a:spcPts val="0"/>
                        </a:spcBef>
                        <a:spcAft>
                          <a:spcPts val="0"/>
                        </a:spcAft>
                        <a:buClr>
                          <a:srgbClr val="1D3423"/>
                        </a:buClr>
                        <a:buSzPts val="1200"/>
                        <a:buFont typeface="Arial"/>
                        <a:buNone/>
                      </a:pPr>
                      <a:r>
                        <a:rPr i="1" lang="en-US" sz="1300">
                          <a:solidFill>
                            <a:srgbClr val="1D3423"/>
                          </a:solidFill>
                          <a:latin typeface="IBM Plex Sans"/>
                          <a:ea typeface="IBM Plex Sans"/>
                          <a:cs typeface="IBM Plex Sans"/>
                          <a:sym typeface="IBM Plex Sans"/>
                        </a:rPr>
                        <a:t>e.g., ShoppingComp + ACES Evaluation Frameworks</a:t>
                      </a:r>
                      <a:endParaRPr sz="16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AF7F0"/>
                    </a:solidFill>
                  </a:tcPr>
                </a:tc>
                <a:tc>
                  <a:txBody>
                    <a:bodyPr/>
                    <a:lstStyle/>
                    <a:p>
                      <a:pPr indent="0" lvl="0" marL="0" marR="0" rtl="0" algn="l">
                        <a:spcBef>
                          <a:spcPts val="0"/>
                        </a:spcBef>
                        <a:spcAft>
                          <a:spcPts val="0"/>
                        </a:spcAft>
                        <a:buClr>
                          <a:srgbClr val="37433A"/>
                        </a:buClr>
                        <a:buSzPts val="1140"/>
                        <a:buFont typeface="Arial"/>
                        <a:buNone/>
                      </a:pPr>
                      <a:r>
                        <a:rPr b="1" lang="en-US" sz="1440">
                          <a:solidFill>
                            <a:srgbClr val="38761D"/>
                          </a:solidFill>
                          <a:latin typeface="IBM Plex Sans"/>
                          <a:ea typeface="IBM Plex Sans"/>
                          <a:cs typeface="IBM Plex Sans"/>
                          <a:sym typeface="IBM Plex Sans"/>
                        </a:rPr>
                        <a:t>✅ </a:t>
                      </a:r>
                      <a:r>
                        <a:rPr b="1" lang="en-US" sz="1440">
                          <a:solidFill>
                            <a:srgbClr val="38761D"/>
                          </a:solidFill>
                          <a:latin typeface="IBM Plex Sans"/>
                          <a:ea typeface="IBM Plex Sans"/>
                          <a:cs typeface="IBM Plex Sans"/>
                          <a:sym typeface="IBM Plex Sans"/>
                        </a:rPr>
                        <a:t>Search large catalogs and compare products</a:t>
                      </a:r>
                      <a:r>
                        <a:rPr lang="en-US" sz="1440">
                          <a:solidFill>
                            <a:srgbClr val="37433A"/>
                          </a:solidFill>
                          <a:latin typeface="IBM Plex Sans"/>
                          <a:ea typeface="IBM Plex Sans"/>
                          <a:cs typeface="IBM Plex Sans"/>
                          <a:sym typeface="IBM Plex Sans"/>
                        </a:rPr>
                        <a:t> at scale.</a:t>
                      </a:r>
                      <a:endParaRPr sz="1700">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rPr b="1" lang="en-US" sz="1440">
                          <a:solidFill>
                            <a:srgbClr val="38761D"/>
                          </a:solidFill>
                          <a:latin typeface="IBM Plex Sans"/>
                          <a:ea typeface="IBM Plex Sans"/>
                          <a:cs typeface="IBM Plex Sans"/>
                          <a:sym typeface="IBM Plex Sans"/>
                        </a:rPr>
                        <a:t>✅ </a:t>
                      </a:r>
                      <a:r>
                        <a:rPr b="1" lang="en-US" sz="1440">
                          <a:solidFill>
                            <a:srgbClr val="38761D"/>
                          </a:solidFill>
                          <a:latin typeface="IBM Plex Sans"/>
                          <a:ea typeface="IBM Plex Sans"/>
                          <a:cs typeface="IBM Plex Sans"/>
                          <a:sym typeface="IBM Plex Sans"/>
                        </a:rPr>
                        <a:t>Performance improves </a:t>
                      </a:r>
                      <a:r>
                        <a:rPr lang="en-US" sz="1440">
                          <a:solidFill>
                            <a:srgbClr val="37433A"/>
                          </a:solidFill>
                          <a:latin typeface="IBM Plex Sans"/>
                          <a:ea typeface="IBM Plex Sans"/>
                          <a:cs typeface="IBM Plex Sans"/>
                          <a:sym typeface="IBM Plex Sans"/>
                        </a:rPr>
                        <a:t>on simple, clearly defined purchases.</a:t>
                      </a:r>
                      <a:endParaRPr sz="17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AF7F0"/>
                    </a:solidFill>
                  </a:tcPr>
                </a:tc>
                <a:tc>
                  <a:txBody>
                    <a:bodyPr/>
                    <a:lstStyle/>
                    <a:p>
                      <a:pPr indent="0" lvl="0" marL="0" marR="0" rtl="0" algn="l">
                        <a:spcBef>
                          <a:spcPts val="0"/>
                        </a:spcBef>
                        <a:spcAft>
                          <a:spcPts val="0"/>
                        </a:spcAft>
                        <a:buClr>
                          <a:srgbClr val="37433A"/>
                        </a:buClr>
                        <a:buSzPts val="1140"/>
                        <a:buFont typeface="Arial"/>
                        <a:buNone/>
                      </a:pPr>
                      <a:r>
                        <a:rPr lang="en-US" sz="1100">
                          <a:solidFill>
                            <a:srgbClr val="990000"/>
                          </a:solidFill>
                        </a:rPr>
                        <a:t>△ </a:t>
                      </a:r>
                      <a:r>
                        <a:rPr b="1" lang="en-US" sz="1440">
                          <a:solidFill>
                            <a:srgbClr val="990000"/>
                          </a:solidFill>
                          <a:latin typeface="IBM Plex Sans"/>
                          <a:ea typeface="IBM Plex Sans"/>
                          <a:cs typeface="IBM Plex Sans"/>
                          <a:sym typeface="IBM Plex Sans"/>
                        </a:rPr>
                        <a:t>Low multi-constraint accuracy</a:t>
                      </a:r>
                      <a:r>
                        <a:rPr lang="en-US" sz="1440">
                          <a:solidFill>
                            <a:srgbClr val="37433A"/>
                          </a:solidFill>
                          <a:latin typeface="IBM Plex Sans"/>
                          <a:ea typeface="IBM Plex Sans"/>
                          <a:cs typeface="IBM Plex Sans"/>
                          <a:sym typeface="IBM Plex Sans"/>
                        </a:rPr>
                        <a:t> and w</a:t>
                      </a:r>
                      <a:r>
                        <a:rPr b="1" lang="en-US" sz="1440">
                          <a:solidFill>
                            <a:srgbClr val="990000"/>
                          </a:solidFill>
                          <a:latin typeface="IBM Plex Sans"/>
                          <a:ea typeface="IBM Plex Sans"/>
                          <a:cs typeface="IBM Plex Sans"/>
                          <a:sym typeface="IBM Plex Sans"/>
                        </a:rPr>
                        <a:t>eak safety performance</a:t>
                      </a:r>
                      <a:r>
                        <a:rPr lang="en-US" sz="1440">
                          <a:solidFill>
                            <a:srgbClr val="37433A"/>
                          </a:solidFill>
                          <a:latin typeface="IBM Plex Sans"/>
                          <a:ea typeface="IBM Plex Sans"/>
                          <a:cs typeface="IBM Plex Sans"/>
                          <a:sym typeface="IBM Plex Sans"/>
                        </a:rPr>
                        <a:t>.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t/>
                      </a:r>
                      <a:endParaRPr sz="1440">
                        <a:solidFill>
                          <a:srgbClr val="37433A"/>
                        </a:solidFill>
                        <a:latin typeface="IBM Plex Sans"/>
                        <a:ea typeface="IBM Plex Sans"/>
                        <a:cs typeface="IBM Plex Sans"/>
                        <a:sym typeface="IBM Plex Sans"/>
                      </a:endParaRPr>
                    </a:p>
                    <a:p>
                      <a:pPr indent="0" lvl="0" marL="0" marR="0" rtl="0" algn="l">
                        <a:spcBef>
                          <a:spcPts val="0"/>
                        </a:spcBef>
                        <a:spcAft>
                          <a:spcPts val="0"/>
                        </a:spcAft>
                        <a:buClr>
                          <a:srgbClr val="37433A"/>
                        </a:buClr>
                        <a:buSzPts val="1140"/>
                        <a:buFont typeface="Arial"/>
                        <a:buNone/>
                      </a:pPr>
                      <a:r>
                        <a:rPr lang="en-US" sz="1100">
                          <a:solidFill>
                            <a:srgbClr val="990000"/>
                          </a:solidFill>
                        </a:rPr>
                        <a:t>△ </a:t>
                      </a:r>
                      <a:r>
                        <a:rPr b="1" lang="en-US" sz="1440">
                          <a:solidFill>
                            <a:srgbClr val="990000"/>
                          </a:solidFill>
                          <a:latin typeface="IBM Plex Sans"/>
                          <a:ea typeface="IBM Plex Sans"/>
                          <a:cs typeface="IBM Plex Sans"/>
                          <a:sym typeface="IBM Plex Sans"/>
                        </a:rPr>
                        <a:t>Choices shift </a:t>
                      </a:r>
                      <a:r>
                        <a:rPr lang="en-US" sz="1440">
                          <a:solidFill>
                            <a:srgbClr val="37433A"/>
                          </a:solidFill>
                          <a:latin typeface="IBM Plex Sans"/>
                          <a:ea typeface="IBM Plex Sans"/>
                          <a:cs typeface="IBM Plex Sans"/>
                          <a:sym typeface="IBM Plex Sans"/>
                        </a:rPr>
                        <a:t>with product position, model version, and seller wording.</a:t>
                      </a:r>
                      <a:endParaRPr sz="1700">
                        <a:latin typeface="IBM Plex Sans"/>
                        <a:ea typeface="IBM Plex Sans"/>
                        <a:cs typeface="IBM Plex Sans"/>
                        <a:sym typeface="IBM Plex Sans"/>
                      </a:endParaRPr>
                    </a:p>
                  </a:txBody>
                  <a:tcPr marT="95250" marB="76200" marR="133350" marL="1333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AF7F0"/>
                    </a:solidFill>
                  </a:tcPr>
                </a:tc>
              </a:tr>
            </a:tbl>
          </a:graphicData>
        </a:graphic>
      </p:graphicFrame>
      <p:sp>
        <p:nvSpPr>
          <p:cNvPr id="119" name="Google Shape;119;p7"/>
          <p:cNvSpPr/>
          <p:nvPr/>
        </p:nvSpPr>
        <p:spPr>
          <a:xfrm>
            <a:off x="800100" y="6564876"/>
            <a:ext cx="10591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1" lang="en-US" sz="1163">
                <a:solidFill>
                  <a:srgbClr val="7C8977"/>
                </a:solidFill>
                <a:latin typeface="Arial"/>
                <a:ea typeface="Arial"/>
                <a:cs typeface="Arial"/>
                <a:sym typeface="Arial"/>
              </a:rPr>
              <a:t>Sources: Khamesian et al. (2025); Papastratis et al. (2024); Yang et al. (2025); Tou et al. (2025); Allouah et al. (2025)</a:t>
            </a:r>
            <a:endParaRPr i="1" sz="1700"/>
          </a:p>
        </p:txBody>
      </p:sp>
      <p:sp>
        <p:nvSpPr>
          <p:cNvPr id="120" name="Google Shape;120;p7"/>
          <p:cNvSpPr txBox="1"/>
          <p:nvPr/>
        </p:nvSpPr>
        <p:spPr>
          <a:xfrm>
            <a:off x="800100" y="325350"/>
            <a:ext cx="10884000" cy="238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00"/>
              <a:buFont typeface="IBM Plex Sans"/>
              <a:buNone/>
            </a:pPr>
            <a:r>
              <a:rPr b="1" i="0" lang="en-US" sz="1700" u="none">
                <a:solidFill>
                  <a:srgbClr val="B85C2C"/>
                </a:solidFill>
                <a:latin typeface="IBM Plex Sans"/>
                <a:ea typeface="IBM Plex Sans"/>
                <a:cs typeface="IBM Plex Sans"/>
                <a:sym typeface="IBM Plex Sans"/>
              </a:rPr>
              <a:t>EXISTING TOOLS &amp; GAPS</a:t>
            </a:r>
            <a:endParaRPr sz="1700"/>
          </a:p>
        </p:txBody>
      </p:sp>
      <p:sp>
        <p:nvSpPr>
          <p:cNvPr id="121" name="Google Shape;121;p7"/>
          <p:cNvSpPr txBox="1"/>
          <p:nvPr/>
        </p:nvSpPr>
        <p:spPr>
          <a:xfrm>
            <a:off x="800100" y="639675"/>
            <a:ext cx="10464900" cy="4938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2301E"/>
              </a:buClr>
              <a:buSzPts val="3200"/>
              <a:buFont typeface="Source Serif 4"/>
              <a:buNone/>
            </a:pPr>
            <a:r>
              <a:rPr b="1" i="0" lang="en-US" sz="3200" u="none">
                <a:solidFill>
                  <a:srgbClr val="22301E"/>
                </a:solidFill>
                <a:latin typeface="Source Serif 4"/>
                <a:ea typeface="Source Serif 4"/>
                <a:cs typeface="Source Serif 4"/>
                <a:sym typeface="Source Serif 4"/>
              </a:rPr>
              <a:t>Existing tools solve pieces, not the whole problem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125" name="Shape 125"/>
        <p:cNvGrpSpPr/>
        <p:nvPr/>
      </p:nvGrpSpPr>
      <p:grpSpPr>
        <a:xfrm>
          <a:off x="0" y="0"/>
          <a:ext cx="0" cy="0"/>
          <a:chOff x="0" y="0"/>
          <a:chExt cx="0" cy="0"/>
        </a:xfrm>
      </p:grpSpPr>
      <p:sp>
        <p:nvSpPr>
          <p:cNvPr id="126" name="Google Shape;126;p8"/>
          <p:cNvSpPr txBox="1"/>
          <p:nvPr/>
        </p:nvSpPr>
        <p:spPr>
          <a:xfrm>
            <a:off x="457350" y="447548"/>
            <a:ext cx="7315200" cy="261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i="0" lang="en-US" sz="1400" u="none" cap="none" strike="noStrike">
                <a:solidFill>
                  <a:srgbClr val="C05A3A"/>
                </a:solidFill>
                <a:latin typeface="Calibri"/>
                <a:ea typeface="Calibri"/>
                <a:cs typeface="Calibri"/>
                <a:sym typeface="Calibri"/>
              </a:rPr>
              <a:t>LITERATURE SYNTHESIS</a:t>
            </a:r>
            <a:endParaRPr/>
          </a:p>
        </p:txBody>
      </p:sp>
      <p:sp>
        <p:nvSpPr>
          <p:cNvPr id="127" name="Google Shape;127;p8"/>
          <p:cNvSpPr txBox="1"/>
          <p:nvPr/>
        </p:nvSpPr>
        <p:spPr>
          <a:xfrm>
            <a:off x="429918" y="759968"/>
            <a:ext cx="10515600" cy="5079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3000">
                <a:solidFill>
                  <a:srgbClr val="242A1E"/>
                </a:solidFill>
                <a:latin typeface="Georgia"/>
                <a:ea typeface="Georgia"/>
                <a:cs typeface="Georgia"/>
                <a:sym typeface="Georgia"/>
              </a:rPr>
              <a:t>Three things eight papers taught us</a:t>
            </a:r>
            <a:endParaRPr/>
          </a:p>
        </p:txBody>
      </p:sp>
      <p:sp>
        <p:nvSpPr>
          <p:cNvPr id="128" name="Google Shape;128;p8"/>
          <p:cNvSpPr/>
          <p:nvPr/>
        </p:nvSpPr>
        <p:spPr>
          <a:xfrm>
            <a:off x="457350" y="1600200"/>
            <a:ext cx="3606300" cy="4526400"/>
          </a:xfrm>
          <a:prstGeom prst="roundRect">
            <a:avLst>
              <a:gd fmla="val 4500" name="adj"/>
            </a:avLst>
          </a:prstGeom>
          <a:solidFill>
            <a:srgbClr val="FBF8F0"/>
          </a:solidFill>
          <a:ln cap="flat" cmpd="sng" w="12700">
            <a:solidFill>
              <a:srgbClr val="E3D9C2"/>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45700" lIns="0" spcFirstLastPara="1" rIns="91425" wrap="square" tIns="0">
            <a:noAutofit/>
          </a:bodyPr>
          <a:lstStyle/>
          <a:p>
            <a:pPr indent="0" lvl="0" marL="0" marR="0" rtl="0" algn="ctr">
              <a:spcBef>
                <a:spcPts val="0"/>
              </a:spcBef>
              <a:spcAft>
                <a:spcPts val="0"/>
              </a:spcAft>
              <a:buNone/>
            </a:pPr>
            <a:r>
              <a:t/>
            </a:r>
            <a:endParaRPr sz="1800">
              <a:solidFill>
                <a:srgbClr val="000000"/>
              </a:solidFill>
              <a:highlight>
                <a:srgbClr val="FCFAF5"/>
              </a:highlight>
              <a:latin typeface="Calibri"/>
              <a:ea typeface="Calibri"/>
              <a:cs typeface="Calibri"/>
              <a:sym typeface="Calibri"/>
            </a:endParaRPr>
          </a:p>
        </p:txBody>
      </p:sp>
      <p:pic>
        <p:nvPicPr>
          <p:cNvPr descr="icon_db.png" id="129" name="Google Shape;129;p8"/>
          <p:cNvPicPr preferRelativeResize="0"/>
          <p:nvPr/>
        </p:nvPicPr>
        <p:blipFill rotWithShape="1">
          <a:blip r:embed="rId3">
            <a:alphaModFix/>
          </a:blip>
          <a:srcRect b="0" l="0" r="0" t="0"/>
          <a:stretch/>
        </p:blipFill>
        <p:spPr>
          <a:xfrm>
            <a:off x="685950" y="1828800"/>
            <a:ext cx="457200" cy="457200"/>
          </a:xfrm>
          <a:prstGeom prst="rect">
            <a:avLst/>
          </a:prstGeom>
          <a:noFill/>
          <a:ln>
            <a:noFill/>
          </a:ln>
        </p:spPr>
      </p:pic>
      <p:sp>
        <p:nvSpPr>
          <p:cNvPr id="130" name="Google Shape;130;p8"/>
          <p:cNvSpPr txBox="1"/>
          <p:nvPr/>
        </p:nvSpPr>
        <p:spPr>
          <a:xfrm>
            <a:off x="685950" y="2423160"/>
            <a:ext cx="3149100" cy="5388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600">
                <a:solidFill>
                  <a:srgbClr val="242A1E"/>
                </a:solidFill>
                <a:latin typeface="Calibri"/>
                <a:ea typeface="Calibri"/>
                <a:cs typeface="Calibri"/>
                <a:sym typeface="Calibri"/>
              </a:rPr>
              <a:t>Grounding makes generation trustworthy</a:t>
            </a:r>
            <a:endParaRPr/>
          </a:p>
        </p:txBody>
      </p:sp>
      <p:sp>
        <p:nvSpPr>
          <p:cNvPr id="131" name="Google Shape;131;p8"/>
          <p:cNvSpPr txBox="1"/>
          <p:nvPr/>
        </p:nvSpPr>
        <p:spPr>
          <a:xfrm>
            <a:off x="685950" y="3200400"/>
            <a:ext cx="3149100" cy="2331600"/>
          </a:xfrm>
          <a:prstGeom prst="rect">
            <a:avLst/>
          </a:prstGeom>
          <a:noFill/>
          <a:ln>
            <a:noFill/>
          </a:ln>
        </p:spPr>
        <p:txBody>
          <a:bodyPr anchorCtr="0" anchor="t" bIns="45700" lIns="0" spcFirstLastPara="1" rIns="91425" wrap="square" tIns="0">
            <a:noAutofit/>
          </a:bodyPr>
          <a:lstStyle/>
          <a:p>
            <a:pPr indent="-228600" lvl="0" marL="228600" marR="0" rtl="0" algn="l">
              <a:lnSpc>
                <a:spcPct val="108000"/>
              </a:lnSpc>
              <a:spcBef>
                <a:spcPts val="0"/>
              </a:spcBef>
              <a:spcAft>
                <a:spcPts val="0"/>
              </a:spcAft>
              <a:buClr>
                <a:srgbClr val="C05A3A"/>
              </a:buClr>
              <a:buSzPts val="1300"/>
              <a:buFont typeface="Arial"/>
              <a:buChar char="•"/>
            </a:pPr>
            <a:r>
              <a:rPr b="0" lang="en-US" sz="1300">
                <a:solidFill>
                  <a:srgbClr val="55523F"/>
                </a:solidFill>
                <a:latin typeface="Calibri"/>
                <a:ea typeface="Calibri"/>
                <a:cs typeface="Calibri"/>
                <a:sym typeface="Calibri"/>
              </a:rPr>
              <a:t>Meal plans stayed accurate only when checked against a real nutrition database, reaching </a:t>
            </a:r>
            <a:r>
              <a:rPr b="1" lang="en-US" sz="1300">
                <a:solidFill>
                  <a:srgbClr val="C05A3A"/>
                </a:solidFill>
                <a:latin typeface="Calibri"/>
                <a:ea typeface="Calibri"/>
                <a:cs typeface="Calibri"/>
                <a:sym typeface="Calibri"/>
              </a:rPr>
              <a:t>&gt;87%</a:t>
            </a:r>
            <a:r>
              <a:rPr b="0" lang="en-US" sz="1300">
                <a:solidFill>
                  <a:srgbClr val="55523F"/>
                </a:solidFill>
                <a:latin typeface="Calibri"/>
                <a:ea typeface="Calibri"/>
                <a:cs typeface="Calibri"/>
                <a:sym typeface="Calibri"/>
              </a:rPr>
              <a:t> accuracy, not when left to the model alone</a:t>
            </a:r>
            <a:endParaRPr/>
          </a:p>
          <a:p>
            <a:pPr indent="-228600" lvl="0" marL="228600" marR="0" rtl="0" algn="l">
              <a:lnSpc>
                <a:spcPct val="108000"/>
              </a:lnSpc>
              <a:spcBef>
                <a:spcPts val="1000"/>
              </a:spcBef>
              <a:spcAft>
                <a:spcPts val="0"/>
              </a:spcAft>
              <a:buClr>
                <a:srgbClr val="C05A3A"/>
              </a:buClr>
              <a:buSzPts val="1300"/>
              <a:buFont typeface="Arial"/>
              <a:buChar char="•"/>
            </a:pPr>
            <a:r>
              <a:rPr b="0" lang="en-US" sz="1300">
                <a:solidFill>
                  <a:srgbClr val="55523F"/>
                </a:solidFill>
                <a:latin typeface="Calibri"/>
                <a:ea typeface="Calibri"/>
                <a:cs typeface="Calibri"/>
                <a:sym typeface="Calibri"/>
              </a:rPr>
              <a:t>The same rule held for ingredient swaps: a substitute only counted as safe once checked against real food data</a:t>
            </a:r>
            <a:endParaRPr/>
          </a:p>
          <a:p>
            <a:pPr indent="-228600" lvl="0" marL="228600" marR="0" rtl="0" algn="l">
              <a:lnSpc>
                <a:spcPct val="108000"/>
              </a:lnSpc>
              <a:spcBef>
                <a:spcPts val="1000"/>
              </a:spcBef>
              <a:spcAft>
                <a:spcPts val="0"/>
              </a:spcAft>
              <a:buClr>
                <a:schemeClr val="accent6"/>
              </a:buClr>
              <a:buSzPts val="1300"/>
              <a:buFont typeface="Arial"/>
              <a:buChar char="•"/>
            </a:pPr>
            <a:r>
              <a:rPr b="1" lang="en-US" sz="1300">
                <a:solidFill>
                  <a:schemeClr val="accent6"/>
                </a:solidFill>
                <a:latin typeface="Calibri"/>
                <a:ea typeface="Calibri"/>
                <a:cs typeface="Calibri"/>
                <a:sym typeface="Calibri"/>
              </a:rPr>
              <a:t>Prompt to Plate checks every meal and every swap against real data before it reaches a cart</a:t>
            </a:r>
            <a:endParaRPr>
              <a:solidFill>
                <a:schemeClr val="accent6"/>
              </a:solidFill>
            </a:endParaRPr>
          </a:p>
        </p:txBody>
      </p:sp>
      <p:sp>
        <p:nvSpPr>
          <p:cNvPr id="132" name="Google Shape;132;p8"/>
          <p:cNvSpPr txBox="1"/>
          <p:nvPr/>
        </p:nvSpPr>
        <p:spPr>
          <a:xfrm>
            <a:off x="685950" y="5669280"/>
            <a:ext cx="3149100" cy="3387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950">
                <a:solidFill>
                  <a:srgbClr val="8D8A73"/>
                </a:solidFill>
                <a:latin typeface="Calibri"/>
                <a:ea typeface="Calibri"/>
                <a:cs typeface="Calibri"/>
                <a:sym typeface="Calibri"/>
              </a:rPr>
              <a:t>Khamesian et al., 2025  ·  Papastratis et al., 2024  ·  Kim et al., 2025</a:t>
            </a:r>
            <a:endParaRPr/>
          </a:p>
        </p:txBody>
      </p:sp>
      <p:sp>
        <p:nvSpPr>
          <p:cNvPr id="133" name="Google Shape;133;p8"/>
          <p:cNvSpPr/>
          <p:nvPr/>
        </p:nvSpPr>
        <p:spPr>
          <a:xfrm>
            <a:off x="4292343" y="1600200"/>
            <a:ext cx="3606300" cy="4526400"/>
          </a:xfrm>
          <a:prstGeom prst="roundRect">
            <a:avLst>
              <a:gd fmla="val 4500" name="adj"/>
            </a:avLst>
          </a:prstGeom>
          <a:solidFill>
            <a:srgbClr val="FBF8F0"/>
          </a:solidFill>
          <a:ln cap="flat" cmpd="sng" w="12700">
            <a:solidFill>
              <a:srgbClr val="E3D9C2"/>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45700" lIns="0" spcFirstLastPara="1" rIns="91425" wrap="square" tIns="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pic>
        <p:nvPicPr>
          <p:cNvPr descr="icon_branch.png" id="134" name="Google Shape;134;p8"/>
          <p:cNvPicPr preferRelativeResize="0"/>
          <p:nvPr/>
        </p:nvPicPr>
        <p:blipFill rotWithShape="1">
          <a:blip r:embed="rId4">
            <a:alphaModFix/>
          </a:blip>
          <a:srcRect b="0" l="0" r="0" t="0"/>
          <a:stretch/>
        </p:blipFill>
        <p:spPr>
          <a:xfrm>
            <a:off x="4520943" y="1828800"/>
            <a:ext cx="457200" cy="457200"/>
          </a:xfrm>
          <a:prstGeom prst="rect">
            <a:avLst/>
          </a:prstGeom>
          <a:noFill/>
          <a:ln>
            <a:noFill/>
          </a:ln>
        </p:spPr>
      </p:pic>
      <p:sp>
        <p:nvSpPr>
          <p:cNvPr id="135" name="Google Shape;135;p8"/>
          <p:cNvSpPr txBox="1"/>
          <p:nvPr/>
        </p:nvSpPr>
        <p:spPr>
          <a:xfrm>
            <a:off x="4520943" y="2423160"/>
            <a:ext cx="3149100" cy="5388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600">
                <a:solidFill>
                  <a:srgbClr val="242A1E"/>
                </a:solidFill>
                <a:latin typeface="Calibri"/>
                <a:ea typeface="Calibri"/>
                <a:cs typeface="Calibri"/>
                <a:sym typeface="Calibri"/>
              </a:rPr>
              <a:t>One prompt cannot handle every constraint</a:t>
            </a:r>
            <a:endParaRPr/>
          </a:p>
        </p:txBody>
      </p:sp>
      <p:sp>
        <p:nvSpPr>
          <p:cNvPr id="136" name="Google Shape;136;p8"/>
          <p:cNvSpPr txBox="1"/>
          <p:nvPr/>
        </p:nvSpPr>
        <p:spPr>
          <a:xfrm>
            <a:off x="4520943" y="3200400"/>
            <a:ext cx="3149100" cy="2331600"/>
          </a:xfrm>
          <a:prstGeom prst="rect">
            <a:avLst/>
          </a:prstGeom>
          <a:noFill/>
          <a:ln>
            <a:noFill/>
          </a:ln>
        </p:spPr>
        <p:txBody>
          <a:bodyPr anchorCtr="0" anchor="t" bIns="45700" lIns="0" spcFirstLastPara="1" rIns="91425" wrap="square" tIns="0">
            <a:noAutofit/>
          </a:bodyPr>
          <a:lstStyle/>
          <a:p>
            <a:pPr indent="-228600" lvl="0" marL="228600" marR="0" rtl="0" algn="l">
              <a:lnSpc>
                <a:spcPct val="108000"/>
              </a:lnSpc>
              <a:spcBef>
                <a:spcPts val="0"/>
              </a:spcBef>
              <a:spcAft>
                <a:spcPts val="0"/>
              </a:spcAft>
              <a:buClr>
                <a:srgbClr val="C05A3A"/>
              </a:buClr>
              <a:buSzPts val="1300"/>
              <a:buFont typeface="Arial"/>
              <a:buChar char="•"/>
            </a:pPr>
            <a:r>
              <a:rPr b="0" lang="en-US" sz="1300">
                <a:solidFill>
                  <a:srgbClr val="55523F"/>
                </a:solidFill>
                <a:latin typeface="Calibri"/>
                <a:ea typeface="Calibri"/>
                <a:cs typeface="Calibri"/>
                <a:sym typeface="Calibri"/>
              </a:rPr>
              <a:t>A single prompt handling many constraints at once got it right only </a:t>
            </a:r>
            <a:r>
              <a:rPr b="1" lang="en-US" sz="1300">
                <a:solidFill>
                  <a:srgbClr val="8C9573"/>
                </a:solidFill>
                <a:latin typeface="Calibri"/>
                <a:ea typeface="Calibri"/>
                <a:cs typeface="Calibri"/>
                <a:sym typeface="Calibri"/>
              </a:rPr>
              <a:t>2.92%</a:t>
            </a:r>
            <a:r>
              <a:rPr b="0" lang="en-US" sz="1300">
                <a:solidFill>
                  <a:srgbClr val="55523F"/>
                </a:solidFill>
                <a:latin typeface="Calibri"/>
                <a:ea typeface="Calibri"/>
                <a:cs typeface="Calibri"/>
                <a:sym typeface="Calibri"/>
              </a:rPr>
              <a:t> of the time</a:t>
            </a:r>
            <a:endParaRPr/>
          </a:p>
          <a:p>
            <a:pPr indent="-228600" lvl="0" marL="228600" marR="0" rtl="0" algn="l">
              <a:lnSpc>
                <a:spcPct val="108000"/>
              </a:lnSpc>
              <a:spcBef>
                <a:spcPts val="1000"/>
              </a:spcBef>
              <a:spcAft>
                <a:spcPts val="0"/>
              </a:spcAft>
              <a:buClr>
                <a:srgbClr val="C05A3A"/>
              </a:buClr>
              <a:buSzPts val="1300"/>
              <a:buFont typeface="Arial"/>
              <a:buChar char="•"/>
            </a:pPr>
            <a:r>
              <a:rPr b="0" lang="en-US" sz="1300">
                <a:solidFill>
                  <a:srgbClr val="55523F"/>
                </a:solidFill>
                <a:latin typeface="Calibri"/>
                <a:ea typeface="Calibri"/>
                <a:cs typeface="Calibri"/>
                <a:sym typeface="Calibri"/>
              </a:rPr>
              <a:t>Splitting the task across several specialized agents raised that to </a:t>
            </a:r>
            <a:r>
              <a:rPr b="1" lang="en-US" sz="1300">
                <a:solidFill>
                  <a:srgbClr val="C05A3A"/>
                </a:solidFill>
                <a:latin typeface="Calibri"/>
                <a:ea typeface="Calibri"/>
                <a:cs typeface="Calibri"/>
                <a:sym typeface="Calibri"/>
              </a:rPr>
              <a:t>42.68%</a:t>
            </a:r>
            <a:endParaRPr/>
          </a:p>
          <a:p>
            <a:pPr indent="-228600" lvl="0" marL="228600" marR="0" rtl="0" algn="l">
              <a:lnSpc>
                <a:spcPct val="108000"/>
              </a:lnSpc>
              <a:spcBef>
                <a:spcPts val="1000"/>
              </a:spcBef>
              <a:spcAft>
                <a:spcPts val="0"/>
              </a:spcAft>
              <a:buClr>
                <a:schemeClr val="accent6"/>
              </a:buClr>
              <a:buSzPts val="1300"/>
              <a:buFont typeface="Arial"/>
              <a:buChar char="•"/>
            </a:pPr>
            <a:r>
              <a:rPr b="1" lang="en-US" sz="1300">
                <a:solidFill>
                  <a:schemeClr val="accent6"/>
                </a:solidFill>
                <a:latin typeface="Calibri"/>
                <a:ea typeface="Calibri"/>
                <a:cs typeface="Calibri"/>
                <a:sym typeface="Calibri"/>
              </a:rPr>
              <a:t>Prompt to Plate splits budget, pantry, and nutrition across separate agents the same way</a:t>
            </a:r>
            <a:endParaRPr>
              <a:solidFill>
                <a:schemeClr val="accent6"/>
              </a:solidFill>
            </a:endParaRPr>
          </a:p>
        </p:txBody>
      </p:sp>
      <p:sp>
        <p:nvSpPr>
          <p:cNvPr id="137" name="Google Shape;137;p8"/>
          <p:cNvSpPr txBox="1"/>
          <p:nvPr/>
        </p:nvSpPr>
        <p:spPr>
          <a:xfrm>
            <a:off x="4520943" y="5669280"/>
            <a:ext cx="3149100" cy="192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950">
                <a:solidFill>
                  <a:srgbClr val="8D8A73"/>
                </a:solidFill>
                <a:latin typeface="Calibri"/>
                <a:ea typeface="Calibri"/>
                <a:cs typeface="Calibri"/>
                <a:sym typeface="Calibri"/>
              </a:rPr>
              <a:t>Zhang et al., 2024  ·  Chen et al., 2024  ·  Yang et al., 2025</a:t>
            </a:r>
            <a:endParaRPr/>
          </a:p>
        </p:txBody>
      </p:sp>
      <p:sp>
        <p:nvSpPr>
          <p:cNvPr id="138" name="Google Shape;138;p8"/>
          <p:cNvSpPr/>
          <p:nvPr/>
        </p:nvSpPr>
        <p:spPr>
          <a:xfrm>
            <a:off x="8127336" y="1600200"/>
            <a:ext cx="3606300" cy="4526400"/>
          </a:xfrm>
          <a:prstGeom prst="roundRect">
            <a:avLst>
              <a:gd fmla="val 4500" name="adj"/>
            </a:avLst>
          </a:prstGeom>
          <a:solidFill>
            <a:srgbClr val="FBF8F0"/>
          </a:solidFill>
          <a:ln cap="flat" cmpd="sng" w="12700">
            <a:solidFill>
              <a:srgbClr val="E3D9C2"/>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45700" lIns="0" spcFirstLastPara="1" rIns="91425" wrap="square" tIns="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pic>
        <p:nvPicPr>
          <p:cNvPr descr="icon_shield.png" id="139" name="Google Shape;139;p8"/>
          <p:cNvPicPr preferRelativeResize="0"/>
          <p:nvPr/>
        </p:nvPicPr>
        <p:blipFill rotWithShape="1">
          <a:blip r:embed="rId5">
            <a:alphaModFix/>
          </a:blip>
          <a:srcRect b="0" l="0" r="0" t="0"/>
          <a:stretch/>
        </p:blipFill>
        <p:spPr>
          <a:xfrm>
            <a:off x="8355936" y="1828800"/>
            <a:ext cx="457200" cy="457200"/>
          </a:xfrm>
          <a:prstGeom prst="rect">
            <a:avLst/>
          </a:prstGeom>
          <a:noFill/>
          <a:ln>
            <a:noFill/>
          </a:ln>
        </p:spPr>
      </p:pic>
      <p:sp>
        <p:nvSpPr>
          <p:cNvPr id="140" name="Google Shape;140;p8"/>
          <p:cNvSpPr txBox="1"/>
          <p:nvPr/>
        </p:nvSpPr>
        <p:spPr>
          <a:xfrm>
            <a:off x="8355936" y="2423160"/>
            <a:ext cx="3149100" cy="5388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600">
                <a:solidFill>
                  <a:srgbClr val="242A1E"/>
                </a:solidFill>
                <a:latin typeface="Calibri"/>
                <a:ea typeface="Calibri"/>
                <a:cs typeface="Calibri"/>
                <a:sym typeface="Calibri"/>
              </a:rPr>
              <a:t>Autonomy breaks down at the point of action</a:t>
            </a:r>
            <a:endParaRPr/>
          </a:p>
        </p:txBody>
      </p:sp>
      <p:sp>
        <p:nvSpPr>
          <p:cNvPr id="141" name="Google Shape;141;p8"/>
          <p:cNvSpPr txBox="1"/>
          <p:nvPr/>
        </p:nvSpPr>
        <p:spPr>
          <a:xfrm>
            <a:off x="8355936" y="3200400"/>
            <a:ext cx="3149100" cy="2331600"/>
          </a:xfrm>
          <a:prstGeom prst="rect">
            <a:avLst/>
          </a:prstGeom>
          <a:noFill/>
          <a:ln>
            <a:noFill/>
          </a:ln>
        </p:spPr>
        <p:txBody>
          <a:bodyPr anchorCtr="0" anchor="t" bIns="45700" lIns="0" spcFirstLastPara="1" rIns="91425" wrap="square" tIns="0">
            <a:noAutofit/>
          </a:bodyPr>
          <a:lstStyle/>
          <a:p>
            <a:pPr indent="-228600" lvl="0" marL="228600" marR="0" rtl="0" algn="l">
              <a:lnSpc>
                <a:spcPct val="108000"/>
              </a:lnSpc>
              <a:spcBef>
                <a:spcPts val="0"/>
              </a:spcBef>
              <a:spcAft>
                <a:spcPts val="0"/>
              </a:spcAft>
              <a:buClr>
                <a:srgbClr val="C05A3A"/>
              </a:buClr>
              <a:buSzPts val="1300"/>
              <a:buFont typeface="Arial"/>
              <a:buChar char="•"/>
            </a:pPr>
            <a:r>
              <a:rPr b="0" lang="en-US" sz="1300">
                <a:solidFill>
                  <a:srgbClr val="55523F"/>
                </a:solidFill>
                <a:latin typeface="Calibri"/>
                <a:ea typeface="Calibri"/>
                <a:cs typeface="Calibri"/>
                <a:sym typeface="Calibri"/>
              </a:rPr>
              <a:t>Shopping agents got complex purchases right only </a:t>
            </a:r>
            <a:r>
              <a:rPr b="1" lang="en-US" sz="1300">
                <a:solidFill>
                  <a:srgbClr val="C05A3A"/>
                </a:solidFill>
                <a:latin typeface="Calibri"/>
                <a:ea typeface="Calibri"/>
                <a:cs typeface="Calibri"/>
                <a:sym typeface="Calibri"/>
              </a:rPr>
              <a:t>15 to 18%</a:t>
            </a:r>
            <a:r>
              <a:rPr b="0" lang="en-US" sz="1300">
                <a:solidFill>
                  <a:srgbClr val="55523F"/>
                </a:solidFill>
                <a:latin typeface="Calibri"/>
                <a:ea typeface="Calibri"/>
                <a:cs typeface="Calibri"/>
                <a:sym typeface="Calibri"/>
              </a:rPr>
              <a:t> of the time</a:t>
            </a:r>
            <a:endParaRPr/>
          </a:p>
          <a:p>
            <a:pPr indent="-228600" lvl="0" marL="228600" marR="0" rtl="0" algn="l">
              <a:lnSpc>
                <a:spcPct val="108000"/>
              </a:lnSpc>
              <a:spcBef>
                <a:spcPts val="1000"/>
              </a:spcBef>
              <a:spcAft>
                <a:spcPts val="0"/>
              </a:spcAft>
              <a:buClr>
                <a:srgbClr val="C05A3A"/>
              </a:buClr>
              <a:buSzPts val="1300"/>
              <a:buFont typeface="Arial"/>
              <a:buChar char="•"/>
            </a:pPr>
            <a:r>
              <a:rPr b="0" lang="en-US" sz="1300">
                <a:solidFill>
                  <a:srgbClr val="55523F"/>
                </a:solidFill>
                <a:latin typeface="Calibri"/>
                <a:ea typeface="Calibri"/>
                <a:cs typeface="Calibri"/>
                <a:sym typeface="Calibri"/>
              </a:rPr>
              <a:t>Their choices shifted whenever the model behind them changed, with no warning to the user</a:t>
            </a:r>
            <a:endParaRPr/>
          </a:p>
          <a:p>
            <a:pPr indent="-228600" lvl="0" marL="228600" marR="0" rtl="0" algn="l">
              <a:lnSpc>
                <a:spcPct val="108000"/>
              </a:lnSpc>
              <a:spcBef>
                <a:spcPts val="1000"/>
              </a:spcBef>
              <a:spcAft>
                <a:spcPts val="0"/>
              </a:spcAft>
              <a:buClr>
                <a:schemeClr val="accent6"/>
              </a:buClr>
              <a:buSzPts val="1300"/>
              <a:buFont typeface="Arial"/>
              <a:buChar char="•"/>
            </a:pPr>
            <a:r>
              <a:rPr b="1" lang="en-US" sz="1300">
                <a:solidFill>
                  <a:schemeClr val="accent6"/>
                </a:solidFill>
                <a:latin typeface="Calibri"/>
                <a:ea typeface="Calibri"/>
                <a:cs typeface="Calibri"/>
                <a:sym typeface="Calibri"/>
              </a:rPr>
              <a:t>Prompt to Plate's shopping agent proposes a cart, but a person approves it before anything is bought</a:t>
            </a:r>
            <a:endParaRPr>
              <a:solidFill>
                <a:schemeClr val="accent6"/>
              </a:solidFill>
            </a:endParaRPr>
          </a:p>
        </p:txBody>
      </p:sp>
      <p:sp>
        <p:nvSpPr>
          <p:cNvPr id="142" name="Google Shape;142;p8"/>
          <p:cNvSpPr txBox="1"/>
          <p:nvPr/>
        </p:nvSpPr>
        <p:spPr>
          <a:xfrm>
            <a:off x="8355936" y="5669280"/>
            <a:ext cx="3149100" cy="192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950">
                <a:solidFill>
                  <a:srgbClr val="8D8A73"/>
                </a:solidFill>
                <a:latin typeface="Calibri"/>
                <a:ea typeface="Calibri"/>
                <a:cs typeface="Calibri"/>
                <a:sym typeface="Calibri"/>
              </a:rPr>
              <a:t>Tou et al., 2025  ·  Allouah et al., 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146" name="Shape 146"/>
        <p:cNvGrpSpPr/>
        <p:nvPr/>
      </p:nvGrpSpPr>
      <p:grpSpPr>
        <a:xfrm>
          <a:off x="0" y="0"/>
          <a:ext cx="0" cy="0"/>
          <a:chOff x="0" y="0"/>
          <a:chExt cx="0" cy="0"/>
        </a:xfrm>
      </p:grpSpPr>
      <p:sp>
        <p:nvSpPr>
          <p:cNvPr id="147" name="Google Shape;147;p9"/>
          <p:cNvSpPr txBox="1"/>
          <p:nvPr/>
        </p:nvSpPr>
        <p:spPr>
          <a:xfrm>
            <a:off x="456775" y="453650"/>
            <a:ext cx="11986200" cy="2481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B85C2C"/>
              </a:buClr>
              <a:buSzPts val="1200"/>
              <a:buFont typeface="IBM Plex Sans"/>
              <a:buNone/>
            </a:pPr>
            <a:r>
              <a:rPr b="1" i="0" lang="en-US" u="none">
                <a:solidFill>
                  <a:srgbClr val="B85C2C"/>
                </a:solidFill>
                <a:latin typeface="IBM Plex Sans"/>
                <a:ea typeface="IBM Plex Sans"/>
                <a:cs typeface="IBM Plex Sans"/>
                <a:sym typeface="IBM Plex Sans"/>
              </a:rPr>
              <a:t>THE CONCEPT</a:t>
            </a:r>
            <a:endParaRPr sz="1600"/>
          </a:p>
        </p:txBody>
      </p:sp>
      <p:sp>
        <p:nvSpPr>
          <p:cNvPr id="148" name="Google Shape;148;p9"/>
          <p:cNvSpPr txBox="1"/>
          <p:nvPr/>
        </p:nvSpPr>
        <p:spPr>
          <a:xfrm>
            <a:off x="456775" y="781202"/>
            <a:ext cx="11986200" cy="514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2301E"/>
              </a:buClr>
              <a:buSzPts val="3200"/>
              <a:buFont typeface="Source Serif 4"/>
              <a:buNone/>
            </a:pPr>
            <a:r>
              <a:rPr b="1" i="0" lang="en-US" sz="3400" u="none">
                <a:solidFill>
                  <a:srgbClr val="22301E"/>
                </a:solidFill>
                <a:latin typeface="Source Serif 4"/>
                <a:ea typeface="Source Serif 4"/>
                <a:cs typeface="Source Serif 4"/>
                <a:sym typeface="Source Serif 4"/>
              </a:rPr>
              <a:t>An adaptive weekly cycle</a:t>
            </a:r>
            <a:endParaRPr sz="1600"/>
          </a:p>
        </p:txBody>
      </p:sp>
      <p:sp>
        <p:nvSpPr>
          <p:cNvPr id="149" name="Google Shape;149;p9"/>
          <p:cNvSpPr/>
          <p:nvPr/>
        </p:nvSpPr>
        <p:spPr>
          <a:xfrm>
            <a:off x="1474500" y="1606300"/>
            <a:ext cx="10959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50" name="Google Shape;150;p9"/>
          <p:cNvSpPr txBox="1"/>
          <p:nvPr/>
        </p:nvSpPr>
        <p:spPr>
          <a:xfrm>
            <a:off x="1624372" y="1735586"/>
            <a:ext cx="7962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i="0" lang="en-US" sz="1421" u="none">
                <a:solidFill>
                  <a:srgbClr val="F3EFE4"/>
                </a:solidFill>
                <a:latin typeface="IBM Plex Sans"/>
                <a:ea typeface="IBM Plex Sans"/>
                <a:cs typeface="IBM Plex Sans"/>
                <a:sym typeface="IBM Plex Sans"/>
              </a:rPr>
              <a:t>PROFILE</a:t>
            </a:r>
            <a:endParaRPr sz="1625"/>
          </a:p>
        </p:txBody>
      </p:sp>
      <p:sp>
        <p:nvSpPr>
          <p:cNvPr id="151" name="Google Shape;151;p9"/>
          <p:cNvSpPr txBox="1"/>
          <p:nvPr/>
        </p:nvSpPr>
        <p:spPr>
          <a:xfrm>
            <a:off x="2660360" y="1735586"/>
            <a:ext cx="239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21"/>
              <a:buFont typeface="IBM Plex Sans"/>
              <a:buNone/>
            </a:pPr>
            <a:r>
              <a:rPr b="0" i="0" lang="en-US" sz="1421" u="none">
                <a:solidFill>
                  <a:srgbClr val="B85C2C"/>
                </a:solidFill>
                <a:latin typeface="IBM Plex Sans"/>
                <a:ea typeface="IBM Plex Sans"/>
                <a:cs typeface="IBM Plex Sans"/>
                <a:sym typeface="IBM Plex Sans"/>
              </a:rPr>
              <a:t>→</a:t>
            </a:r>
            <a:endParaRPr sz="1625"/>
          </a:p>
        </p:txBody>
      </p:sp>
      <p:sp>
        <p:nvSpPr>
          <p:cNvPr id="152" name="Google Shape;152;p9"/>
          <p:cNvSpPr/>
          <p:nvPr/>
        </p:nvSpPr>
        <p:spPr>
          <a:xfrm>
            <a:off x="2930129" y="1606300"/>
            <a:ext cx="7923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53" name="Google Shape;153;p9"/>
          <p:cNvSpPr txBox="1"/>
          <p:nvPr/>
        </p:nvSpPr>
        <p:spPr>
          <a:xfrm>
            <a:off x="3080001" y="1735586"/>
            <a:ext cx="503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i="0" lang="en-US" sz="1421" u="none">
                <a:solidFill>
                  <a:srgbClr val="F3EFE4"/>
                </a:solidFill>
                <a:latin typeface="IBM Plex Sans"/>
                <a:ea typeface="IBM Plex Sans"/>
                <a:cs typeface="IBM Plex Sans"/>
                <a:sym typeface="IBM Plex Sans"/>
              </a:rPr>
              <a:t>PLAN</a:t>
            </a:r>
            <a:endParaRPr sz="1625"/>
          </a:p>
        </p:txBody>
      </p:sp>
      <p:sp>
        <p:nvSpPr>
          <p:cNvPr id="154" name="Google Shape;154;p9"/>
          <p:cNvSpPr txBox="1"/>
          <p:nvPr/>
        </p:nvSpPr>
        <p:spPr>
          <a:xfrm>
            <a:off x="3812498" y="1735586"/>
            <a:ext cx="239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21"/>
              <a:buFont typeface="IBM Plex Sans"/>
              <a:buNone/>
            </a:pPr>
            <a:r>
              <a:rPr b="0" i="0" lang="en-US" sz="1421" u="none">
                <a:solidFill>
                  <a:srgbClr val="B85C2C"/>
                </a:solidFill>
                <a:latin typeface="IBM Plex Sans"/>
                <a:ea typeface="IBM Plex Sans"/>
                <a:cs typeface="IBM Plex Sans"/>
                <a:sym typeface="IBM Plex Sans"/>
              </a:rPr>
              <a:t>→</a:t>
            </a:r>
            <a:endParaRPr sz="1625"/>
          </a:p>
        </p:txBody>
      </p:sp>
      <p:sp>
        <p:nvSpPr>
          <p:cNvPr id="155" name="Google Shape;155;p9"/>
          <p:cNvSpPr/>
          <p:nvPr/>
        </p:nvSpPr>
        <p:spPr>
          <a:xfrm>
            <a:off x="4082267" y="1606300"/>
            <a:ext cx="12213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56" name="Google Shape;156;p9"/>
          <p:cNvSpPr txBox="1"/>
          <p:nvPr/>
        </p:nvSpPr>
        <p:spPr>
          <a:xfrm>
            <a:off x="4232122" y="1735572"/>
            <a:ext cx="10959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lang="en-US" sz="1421">
                <a:solidFill>
                  <a:srgbClr val="F3EFE4"/>
                </a:solidFill>
                <a:latin typeface="IBM Plex Sans"/>
                <a:ea typeface="IBM Plex Sans"/>
                <a:cs typeface="IBM Plex Sans"/>
                <a:sym typeface="IBM Plex Sans"/>
              </a:rPr>
              <a:t>OPTIMIZE</a:t>
            </a:r>
            <a:endParaRPr sz="1625"/>
          </a:p>
        </p:txBody>
      </p:sp>
      <p:sp>
        <p:nvSpPr>
          <p:cNvPr id="157" name="Google Shape;157;p9"/>
          <p:cNvSpPr txBox="1"/>
          <p:nvPr/>
        </p:nvSpPr>
        <p:spPr>
          <a:xfrm>
            <a:off x="5393645" y="1735586"/>
            <a:ext cx="239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21"/>
              <a:buFont typeface="IBM Plex Sans"/>
              <a:buNone/>
            </a:pPr>
            <a:r>
              <a:rPr b="0" i="0" lang="en-US" sz="1421" u="none">
                <a:solidFill>
                  <a:srgbClr val="B85C2C"/>
                </a:solidFill>
                <a:latin typeface="IBM Plex Sans"/>
                <a:ea typeface="IBM Plex Sans"/>
                <a:cs typeface="IBM Plex Sans"/>
                <a:sym typeface="IBM Plex Sans"/>
              </a:rPr>
              <a:t>→</a:t>
            </a:r>
            <a:endParaRPr sz="1625"/>
          </a:p>
        </p:txBody>
      </p:sp>
      <p:sp>
        <p:nvSpPr>
          <p:cNvPr id="158" name="Google Shape;158;p9"/>
          <p:cNvSpPr/>
          <p:nvPr/>
        </p:nvSpPr>
        <p:spPr>
          <a:xfrm>
            <a:off x="5663414" y="1606300"/>
            <a:ext cx="8112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59" name="Google Shape;159;p9"/>
          <p:cNvSpPr txBox="1"/>
          <p:nvPr/>
        </p:nvSpPr>
        <p:spPr>
          <a:xfrm>
            <a:off x="5813285" y="1735586"/>
            <a:ext cx="5244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i="0" lang="en-US" sz="1421" u="none">
                <a:solidFill>
                  <a:srgbClr val="F3EFE4"/>
                </a:solidFill>
                <a:latin typeface="IBM Plex Sans"/>
                <a:ea typeface="IBM Plex Sans"/>
                <a:cs typeface="IBM Plex Sans"/>
                <a:sym typeface="IBM Plex Sans"/>
              </a:rPr>
              <a:t>SHOP</a:t>
            </a:r>
            <a:endParaRPr sz="1625"/>
          </a:p>
        </p:txBody>
      </p:sp>
      <p:sp>
        <p:nvSpPr>
          <p:cNvPr id="160" name="Google Shape;160;p9"/>
          <p:cNvSpPr txBox="1"/>
          <p:nvPr/>
        </p:nvSpPr>
        <p:spPr>
          <a:xfrm>
            <a:off x="6564518" y="1735586"/>
            <a:ext cx="239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21"/>
              <a:buFont typeface="IBM Plex Sans"/>
              <a:buNone/>
            </a:pPr>
            <a:r>
              <a:rPr b="0" i="0" lang="en-US" sz="1421" u="none">
                <a:solidFill>
                  <a:srgbClr val="B85C2C"/>
                </a:solidFill>
                <a:latin typeface="IBM Plex Sans"/>
                <a:ea typeface="IBM Plex Sans"/>
                <a:cs typeface="IBM Plex Sans"/>
                <a:sym typeface="IBM Plex Sans"/>
              </a:rPr>
              <a:t>→</a:t>
            </a:r>
            <a:endParaRPr sz="1625"/>
          </a:p>
        </p:txBody>
      </p:sp>
      <p:sp>
        <p:nvSpPr>
          <p:cNvPr id="161" name="Google Shape;161;p9"/>
          <p:cNvSpPr/>
          <p:nvPr/>
        </p:nvSpPr>
        <p:spPr>
          <a:xfrm>
            <a:off x="6834287" y="1606300"/>
            <a:ext cx="14952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62" name="Google Shape;162;p9"/>
          <p:cNvSpPr txBox="1"/>
          <p:nvPr/>
        </p:nvSpPr>
        <p:spPr>
          <a:xfrm>
            <a:off x="6984158" y="1735586"/>
            <a:ext cx="12213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i="0" lang="en-US" sz="1421" u="none">
                <a:solidFill>
                  <a:srgbClr val="F3EFE4"/>
                </a:solidFill>
                <a:latin typeface="IBM Plex Sans"/>
                <a:ea typeface="IBM Plex Sans"/>
                <a:cs typeface="IBM Plex Sans"/>
                <a:sym typeface="IBM Plex Sans"/>
              </a:rPr>
              <a:t>EAT &amp; TRACK</a:t>
            </a:r>
            <a:endParaRPr sz="1625"/>
          </a:p>
        </p:txBody>
      </p:sp>
      <p:sp>
        <p:nvSpPr>
          <p:cNvPr id="163" name="Google Shape;163;p9"/>
          <p:cNvSpPr txBox="1"/>
          <p:nvPr/>
        </p:nvSpPr>
        <p:spPr>
          <a:xfrm>
            <a:off x="8419180" y="1735586"/>
            <a:ext cx="239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21"/>
              <a:buFont typeface="IBM Plex Sans"/>
              <a:buNone/>
            </a:pPr>
            <a:r>
              <a:rPr b="0" i="0" lang="en-US" sz="1421" u="none">
                <a:solidFill>
                  <a:srgbClr val="B85C2C"/>
                </a:solidFill>
                <a:latin typeface="IBM Plex Sans"/>
                <a:ea typeface="IBM Plex Sans"/>
                <a:cs typeface="IBM Plex Sans"/>
                <a:sym typeface="IBM Plex Sans"/>
              </a:rPr>
              <a:t>→</a:t>
            </a:r>
            <a:endParaRPr sz="1625"/>
          </a:p>
        </p:txBody>
      </p:sp>
      <p:sp>
        <p:nvSpPr>
          <p:cNvPr id="164" name="Google Shape;164;p9"/>
          <p:cNvSpPr/>
          <p:nvPr/>
        </p:nvSpPr>
        <p:spPr>
          <a:xfrm>
            <a:off x="8688949" y="1606300"/>
            <a:ext cx="9084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65" name="Google Shape;165;p9"/>
          <p:cNvSpPr txBox="1"/>
          <p:nvPr/>
        </p:nvSpPr>
        <p:spPr>
          <a:xfrm>
            <a:off x="8838821" y="1735586"/>
            <a:ext cx="6351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i="0" lang="en-US" sz="1421" u="none">
                <a:solidFill>
                  <a:srgbClr val="F3EFE4"/>
                </a:solidFill>
                <a:latin typeface="IBM Plex Sans"/>
                <a:ea typeface="IBM Plex Sans"/>
                <a:cs typeface="IBM Plex Sans"/>
                <a:sym typeface="IBM Plex Sans"/>
              </a:rPr>
              <a:t>LEARN</a:t>
            </a:r>
            <a:endParaRPr sz="1625"/>
          </a:p>
        </p:txBody>
      </p:sp>
      <p:sp>
        <p:nvSpPr>
          <p:cNvPr id="166" name="Google Shape;166;p9"/>
          <p:cNvSpPr txBox="1"/>
          <p:nvPr/>
        </p:nvSpPr>
        <p:spPr>
          <a:xfrm>
            <a:off x="9687468" y="1735586"/>
            <a:ext cx="2397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B85C2C"/>
              </a:buClr>
              <a:buSzPts val="1221"/>
              <a:buFont typeface="IBM Plex Sans"/>
              <a:buNone/>
            </a:pPr>
            <a:r>
              <a:rPr b="0" i="0" lang="en-US" sz="1421" u="none">
                <a:solidFill>
                  <a:srgbClr val="B85C2C"/>
                </a:solidFill>
                <a:latin typeface="IBM Plex Sans"/>
                <a:ea typeface="IBM Plex Sans"/>
                <a:cs typeface="IBM Plex Sans"/>
                <a:sym typeface="IBM Plex Sans"/>
              </a:rPr>
              <a:t>→</a:t>
            </a:r>
            <a:endParaRPr sz="1625"/>
          </a:p>
        </p:txBody>
      </p:sp>
      <p:sp>
        <p:nvSpPr>
          <p:cNvPr id="167" name="Google Shape;167;p9"/>
          <p:cNvSpPr/>
          <p:nvPr/>
        </p:nvSpPr>
        <p:spPr>
          <a:xfrm>
            <a:off x="9957237" y="1606300"/>
            <a:ext cx="916500" cy="529200"/>
          </a:xfrm>
          <a:prstGeom prst="roundRect">
            <a:avLst>
              <a:gd fmla="val 10538" name="adj"/>
            </a:avLst>
          </a:prstGeom>
          <a:solidFill>
            <a:srgbClr val="1E2A1D"/>
          </a:solidFill>
          <a:ln>
            <a:noFill/>
          </a:ln>
        </p:spPr>
        <p:txBody>
          <a:bodyPr anchorCtr="0" anchor="t" bIns="46500" lIns="46500" spcFirstLastPara="1" rIns="46500" wrap="square" tIns="46500">
            <a:noAutofit/>
          </a:bodyPr>
          <a:lstStyle/>
          <a:p>
            <a:pPr indent="0" lvl="0" marL="0" marR="0" rtl="0" algn="l">
              <a:lnSpc>
                <a:spcPct val="100000"/>
              </a:lnSpc>
              <a:spcBef>
                <a:spcPts val="0"/>
              </a:spcBef>
              <a:spcAft>
                <a:spcPts val="0"/>
              </a:spcAft>
              <a:buNone/>
            </a:pPr>
            <a:r>
              <a:t/>
            </a:r>
            <a:endParaRPr b="0" i="0" sz="2032" u="none">
              <a:solidFill>
                <a:srgbClr val="000000"/>
              </a:solidFill>
              <a:latin typeface="Calibri"/>
              <a:ea typeface="Calibri"/>
              <a:cs typeface="Calibri"/>
              <a:sym typeface="Calibri"/>
            </a:endParaRPr>
          </a:p>
        </p:txBody>
      </p:sp>
      <p:sp>
        <p:nvSpPr>
          <p:cNvPr id="168" name="Google Shape;168;p9"/>
          <p:cNvSpPr txBox="1"/>
          <p:nvPr/>
        </p:nvSpPr>
        <p:spPr>
          <a:xfrm>
            <a:off x="10107109" y="1735586"/>
            <a:ext cx="633600" cy="303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3EFE4"/>
              </a:buClr>
              <a:buSzPts val="1221"/>
              <a:buFont typeface="IBM Plex Sans"/>
              <a:buNone/>
            </a:pPr>
            <a:r>
              <a:rPr b="1" i="0" lang="en-US" sz="1421" u="none">
                <a:solidFill>
                  <a:srgbClr val="F3EFE4"/>
                </a:solidFill>
                <a:latin typeface="IBM Plex Sans"/>
                <a:ea typeface="IBM Plex Sans"/>
                <a:cs typeface="IBM Plex Sans"/>
                <a:sym typeface="IBM Plex Sans"/>
              </a:rPr>
              <a:t>ADAPT</a:t>
            </a:r>
            <a:endParaRPr sz="1625"/>
          </a:p>
        </p:txBody>
      </p:sp>
      <p:sp>
        <p:nvSpPr>
          <p:cNvPr id="169" name="Google Shape;169;p9"/>
          <p:cNvSpPr txBox="1"/>
          <p:nvPr/>
        </p:nvSpPr>
        <p:spPr>
          <a:xfrm>
            <a:off x="3197632" y="2429669"/>
            <a:ext cx="5641200" cy="3162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8A9481"/>
              </a:buClr>
              <a:buSzPts val="1119"/>
              <a:buFont typeface="IBM Plex Sans"/>
              <a:buNone/>
            </a:pPr>
            <a:r>
              <a:rPr b="0" i="1" lang="en-US" sz="1519" u="none">
                <a:solidFill>
                  <a:srgbClr val="8A9481"/>
                </a:solidFill>
                <a:latin typeface="IBM Plex Sans"/>
                <a:ea typeface="IBM Plex Sans"/>
                <a:cs typeface="IBM Plex Sans"/>
                <a:sym typeface="IBM Plex Sans"/>
              </a:rPr>
              <a:t>Repeats every week </a:t>
            </a:r>
            <a:r>
              <a:rPr b="0" i="1" lang="en-US" sz="1519" u="none">
                <a:solidFill>
                  <a:srgbClr val="8A9481"/>
                </a:solidFill>
                <a:latin typeface="IBM Plex Sans"/>
                <a:ea typeface="IBM Plex Sans"/>
                <a:cs typeface="IBM Plex Sans"/>
                <a:sym typeface="IBM Plex Sans"/>
              </a:rPr>
              <a:t> </a:t>
            </a:r>
            <a:r>
              <a:rPr b="0" i="1" lang="en-US" sz="1519" u="none">
                <a:solidFill>
                  <a:srgbClr val="8A9481"/>
                </a:solidFill>
                <a:latin typeface="IBM Plex Sans"/>
                <a:ea typeface="IBM Plex Sans"/>
                <a:cs typeface="IBM Plex Sans"/>
                <a:sym typeface="IBM Plex Sans"/>
              </a:rPr>
              <a:t>each cycle's adherence data adjusts the next</a:t>
            </a:r>
            <a:endParaRPr sz="1825"/>
          </a:p>
        </p:txBody>
      </p:sp>
      <p:sp>
        <p:nvSpPr>
          <p:cNvPr id="170" name="Google Shape;170;p9"/>
          <p:cNvSpPr/>
          <p:nvPr/>
        </p:nvSpPr>
        <p:spPr>
          <a:xfrm>
            <a:off x="475775" y="3040050"/>
            <a:ext cx="5515500" cy="3519300"/>
          </a:xfrm>
          <a:prstGeom prst="roundRect">
            <a:avLst>
              <a:gd fmla="val 991"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171" name="Google Shape;171;p9"/>
          <p:cNvSpPr txBox="1"/>
          <p:nvPr/>
        </p:nvSpPr>
        <p:spPr>
          <a:xfrm>
            <a:off x="708573" y="3211536"/>
            <a:ext cx="5049900" cy="28140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22301E"/>
              </a:buClr>
              <a:buSzPts val="1600"/>
              <a:buFont typeface="IBM Plex Sans"/>
              <a:buNone/>
            </a:pPr>
            <a:r>
              <a:rPr b="1" i="0" lang="en-US" sz="1800" u="none">
                <a:solidFill>
                  <a:srgbClr val="22301E"/>
                </a:solidFill>
                <a:latin typeface="IBM Plex Sans"/>
                <a:ea typeface="IBM Plex Sans"/>
                <a:cs typeface="IBM Plex Sans"/>
                <a:sym typeface="IBM Plex Sans"/>
              </a:rPr>
              <a:t>What we're building</a:t>
            </a:r>
            <a:endParaRPr sz="1600"/>
          </a:p>
        </p:txBody>
      </p:sp>
      <p:sp>
        <p:nvSpPr>
          <p:cNvPr id="172" name="Google Shape;172;p9"/>
          <p:cNvSpPr txBox="1"/>
          <p:nvPr/>
        </p:nvSpPr>
        <p:spPr>
          <a:xfrm>
            <a:off x="574175" y="3492925"/>
            <a:ext cx="5318700" cy="3066300"/>
          </a:xfrm>
          <a:prstGeom prst="rect">
            <a:avLst/>
          </a:prstGeom>
          <a:noFill/>
          <a:ln>
            <a:noFill/>
          </a:ln>
        </p:spPr>
        <p:txBody>
          <a:bodyPr anchorCtr="0" anchor="t" bIns="0" lIns="0" spcFirstLastPara="1" rIns="0" wrap="square" tIns="0">
            <a:noAutofit/>
          </a:bodyPr>
          <a:lstStyle/>
          <a:p>
            <a:pPr indent="-368300" lvl="0" marL="342900" marR="0" rtl="0" algn="l">
              <a:lnSpc>
                <a:spcPct val="138461"/>
              </a:lnSpc>
              <a:spcBef>
                <a:spcPts val="0"/>
              </a:spcBef>
              <a:spcAft>
                <a:spcPts val="0"/>
              </a:spcAft>
              <a:buClr>
                <a:srgbClr val="55594C"/>
              </a:buClr>
              <a:buSzPts val="1700"/>
              <a:buFont typeface="IBM Plex Sans"/>
              <a:buChar char="•"/>
            </a:pPr>
            <a:r>
              <a:rPr b="0" i="0" lang="en-US" sz="1700" u="none">
                <a:solidFill>
                  <a:srgbClr val="55594C"/>
                </a:solidFill>
                <a:latin typeface="IBM Plex Sans"/>
                <a:ea typeface="IBM Plex Sans"/>
                <a:cs typeface="IBM Plex Sans"/>
                <a:sym typeface="IBM Plex Sans"/>
              </a:rPr>
              <a:t>Weekly plans built around existing habits, budget, and pantry</a:t>
            </a:r>
            <a:endParaRPr sz="1800"/>
          </a:p>
          <a:p>
            <a:pPr indent="-368300" lvl="0" marL="342900" marR="0" rtl="0" algn="l">
              <a:lnSpc>
                <a:spcPct val="138461"/>
              </a:lnSpc>
              <a:spcBef>
                <a:spcPts val="0"/>
              </a:spcBef>
              <a:spcAft>
                <a:spcPts val="0"/>
              </a:spcAft>
              <a:buClr>
                <a:srgbClr val="55594C"/>
              </a:buClr>
              <a:buSzPts val="1700"/>
              <a:buFont typeface="IBM Plex Sans"/>
              <a:buChar char="•"/>
            </a:pPr>
            <a:r>
              <a:rPr lang="en-US" sz="1700">
                <a:solidFill>
                  <a:srgbClr val="55594C"/>
                </a:solidFill>
                <a:latin typeface="IBM Plex Sans"/>
                <a:ea typeface="IBM Plex Sans"/>
                <a:cs typeface="IBM Plex Sans"/>
                <a:sym typeface="IBM Plex Sans"/>
              </a:rPr>
              <a:t>A constraint solver which  balances cost, macros, and waste</a:t>
            </a:r>
            <a:endParaRPr sz="1700">
              <a:solidFill>
                <a:srgbClr val="55594C"/>
              </a:solidFill>
              <a:latin typeface="IBM Plex Sans"/>
              <a:ea typeface="IBM Plex Sans"/>
              <a:cs typeface="IBM Plex Sans"/>
              <a:sym typeface="IBM Plex Sans"/>
            </a:endParaRPr>
          </a:p>
          <a:p>
            <a:pPr indent="-368300" lvl="0" marL="342900" marR="0" rtl="0" algn="l">
              <a:lnSpc>
                <a:spcPct val="138461"/>
              </a:lnSpc>
              <a:spcBef>
                <a:spcPts val="0"/>
              </a:spcBef>
              <a:spcAft>
                <a:spcPts val="0"/>
              </a:spcAft>
              <a:buClr>
                <a:srgbClr val="55594C"/>
              </a:buClr>
              <a:buSzPts val="1700"/>
              <a:buFont typeface="IBM Plex Sans"/>
              <a:buChar char="•"/>
            </a:pPr>
            <a:r>
              <a:rPr b="0" i="0" lang="en-US" sz="1700" u="none">
                <a:solidFill>
                  <a:srgbClr val="55594C"/>
                </a:solidFill>
                <a:latin typeface="IBM Plex Sans"/>
                <a:ea typeface="IBM Plex Sans"/>
                <a:cs typeface="IBM Plex Sans"/>
                <a:sym typeface="IBM Plex Sans"/>
              </a:rPr>
              <a:t>An automated grocery cart the user reviews and approves</a:t>
            </a:r>
            <a:endParaRPr sz="1800"/>
          </a:p>
          <a:p>
            <a:pPr indent="-368300" lvl="0" marL="342900" marR="0" rtl="0" algn="l">
              <a:lnSpc>
                <a:spcPct val="138461"/>
              </a:lnSpc>
              <a:spcBef>
                <a:spcPts val="0"/>
              </a:spcBef>
              <a:spcAft>
                <a:spcPts val="0"/>
              </a:spcAft>
              <a:buClr>
                <a:srgbClr val="55594C"/>
              </a:buClr>
              <a:buSzPts val="1700"/>
              <a:buFont typeface="IBM Plex Sans"/>
              <a:buChar char="•"/>
            </a:pPr>
            <a:r>
              <a:rPr b="0" i="0" lang="en-US" sz="1700" u="none">
                <a:solidFill>
                  <a:srgbClr val="55594C"/>
                </a:solidFill>
                <a:latin typeface="IBM Plex Sans"/>
                <a:ea typeface="IBM Plex Sans"/>
                <a:cs typeface="IBM Plex Sans"/>
                <a:sym typeface="IBM Plex Sans"/>
              </a:rPr>
              <a:t>Adaptation driven by actual adherence, not assumed compliance</a:t>
            </a:r>
            <a:endParaRPr sz="1800"/>
          </a:p>
        </p:txBody>
      </p:sp>
      <p:sp>
        <p:nvSpPr>
          <p:cNvPr id="173" name="Google Shape;173;p9"/>
          <p:cNvSpPr/>
          <p:nvPr/>
        </p:nvSpPr>
        <p:spPr>
          <a:xfrm>
            <a:off x="6200775" y="3040050"/>
            <a:ext cx="5585700" cy="3519300"/>
          </a:xfrm>
          <a:prstGeom prst="roundRect">
            <a:avLst>
              <a:gd fmla="val 991" name="adj"/>
            </a:avLst>
          </a:prstGeom>
          <a:solidFill>
            <a:srgbClr val="FFFDF8"/>
          </a:solidFill>
          <a:ln cap="flat" cmpd="sng" w="9525">
            <a:solidFill>
              <a:srgbClr val="E3DED0"/>
            </a:solidFill>
            <a:prstDash val="solid"/>
            <a:miter lim="8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Calibri"/>
              <a:ea typeface="Calibri"/>
              <a:cs typeface="Calibri"/>
              <a:sym typeface="Calibri"/>
            </a:endParaRPr>
          </a:p>
        </p:txBody>
      </p:sp>
      <p:sp>
        <p:nvSpPr>
          <p:cNvPr id="174" name="Google Shape;174;p9"/>
          <p:cNvSpPr txBox="1"/>
          <p:nvPr/>
        </p:nvSpPr>
        <p:spPr>
          <a:xfrm>
            <a:off x="6350729" y="3211536"/>
            <a:ext cx="5049900" cy="28140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22301E"/>
              </a:buClr>
              <a:buSzPts val="1600"/>
              <a:buFont typeface="IBM Plex Sans"/>
              <a:buNone/>
            </a:pPr>
            <a:r>
              <a:rPr b="1" i="0" lang="en-US" sz="1800" u="none">
                <a:solidFill>
                  <a:srgbClr val="22301E"/>
                </a:solidFill>
                <a:latin typeface="IBM Plex Sans"/>
                <a:ea typeface="IBM Plex Sans"/>
                <a:cs typeface="IBM Plex Sans"/>
                <a:sym typeface="IBM Plex Sans"/>
              </a:rPr>
              <a:t>Why GenAI is essential</a:t>
            </a:r>
            <a:endParaRPr sz="1600"/>
          </a:p>
        </p:txBody>
      </p:sp>
      <p:sp>
        <p:nvSpPr>
          <p:cNvPr id="175" name="Google Shape;175;p9"/>
          <p:cNvSpPr txBox="1"/>
          <p:nvPr/>
        </p:nvSpPr>
        <p:spPr>
          <a:xfrm>
            <a:off x="6235875" y="3572150"/>
            <a:ext cx="5515500" cy="3066300"/>
          </a:xfrm>
          <a:prstGeom prst="rect">
            <a:avLst/>
          </a:prstGeom>
          <a:noFill/>
          <a:ln>
            <a:noFill/>
          </a:ln>
        </p:spPr>
        <p:txBody>
          <a:bodyPr anchorCtr="0" anchor="t" bIns="0" lIns="0" spcFirstLastPara="1" rIns="0" wrap="square" tIns="0">
            <a:noAutofit/>
          </a:bodyPr>
          <a:lstStyle/>
          <a:p>
            <a:pPr indent="-374650" lvl="0" marL="342900" marR="0" rtl="0" algn="l">
              <a:lnSpc>
                <a:spcPct val="138461"/>
              </a:lnSpc>
              <a:spcBef>
                <a:spcPts val="0"/>
              </a:spcBef>
              <a:spcAft>
                <a:spcPts val="0"/>
              </a:spcAft>
              <a:buClr>
                <a:srgbClr val="55594C"/>
              </a:buClr>
              <a:buSzPts val="1800"/>
              <a:buFont typeface="IBM Plex Sans"/>
              <a:buChar char="•"/>
            </a:pPr>
            <a:r>
              <a:rPr b="0" i="0" lang="en-US" sz="1800" u="none">
                <a:solidFill>
                  <a:srgbClr val="55594C"/>
                </a:solidFill>
                <a:latin typeface="IBM Plex Sans"/>
                <a:ea typeface="IBM Plex Sans"/>
                <a:cs typeface="IBM Plex Sans"/>
                <a:sym typeface="IBM Plex Sans"/>
              </a:rPr>
              <a:t>Interprets open requests like "make next week cheaper"</a:t>
            </a:r>
            <a:endParaRPr sz="1900"/>
          </a:p>
          <a:p>
            <a:pPr indent="-374650" lvl="0" marL="342900" marR="0" rtl="0" algn="l">
              <a:lnSpc>
                <a:spcPct val="138461"/>
              </a:lnSpc>
              <a:spcBef>
                <a:spcPts val="0"/>
              </a:spcBef>
              <a:spcAft>
                <a:spcPts val="0"/>
              </a:spcAft>
              <a:buClr>
                <a:srgbClr val="55594C"/>
              </a:buClr>
              <a:buSzPts val="1800"/>
              <a:buFont typeface="IBM Plex Sans"/>
              <a:buChar char="•"/>
            </a:pPr>
            <a:r>
              <a:rPr b="0" i="0" lang="en-US" sz="1800" u="none">
                <a:solidFill>
                  <a:srgbClr val="55594C"/>
                </a:solidFill>
                <a:latin typeface="IBM Plex Sans"/>
                <a:ea typeface="IBM Plex Sans"/>
                <a:cs typeface="IBM Plex Sans"/>
                <a:sym typeface="IBM Plex Sans"/>
              </a:rPr>
              <a:t>Reconciles many shifting constraints</a:t>
            </a:r>
            <a:r>
              <a:rPr lang="en-US" sz="1800">
                <a:solidFill>
                  <a:srgbClr val="55594C"/>
                </a:solidFill>
                <a:latin typeface="IBM Plex Sans"/>
                <a:ea typeface="IBM Plex Sans"/>
                <a:cs typeface="IBM Plex Sans"/>
                <a:sym typeface="IBM Plex Sans"/>
              </a:rPr>
              <a:t>: g</a:t>
            </a:r>
            <a:r>
              <a:rPr b="0" i="0" lang="en-US" sz="1800" u="none">
                <a:solidFill>
                  <a:srgbClr val="55594C"/>
                </a:solidFill>
                <a:latin typeface="IBM Plex Sans"/>
                <a:ea typeface="IBM Plex Sans"/>
                <a:cs typeface="IBM Plex Sans"/>
                <a:sym typeface="IBM Plex Sans"/>
              </a:rPr>
              <a:t>oals, pantry, budget, taste</a:t>
            </a:r>
            <a:endParaRPr sz="1900"/>
          </a:p>
          <a:p>
            <a:pPr indent="-374650" lvl="0" marL="342900" marR="0" rtl="0" algn="l">
              <a:lnSpc>
                <a:spcPct val="138461"/>
              </a:lnSpc>
              <a:spcBef>
                <a:spcPts val="0"/>
              </a:spcBef>
              <a:spcAft>
                <a:spcPts val="0"/>
              </a:spcAft>
              <a:buClr>
                <a:srgbClr val="55594C"/>
              </a:buClr>
              <a:buSzPts val="1800"/>
              <a:buFont typeface="IBM Plex Sans"/>
              <a:buChar char="•"/>
            </a:pPr>
            <a:r>
              <a:rPr b="0" i="0" lang="en-US" sz="1800" u="none">
                <a:solidFill>
                  <a:srgbClr val="55594C"/>
                </a:solidFill>
                <a:latin typeface="IBM Plex Sans"/>
                <a:ea typeface="IBM Plex Sans"/>
                <a:cs typeface="IBM Plex Sans"/>
                <a:sym typeface="IBM Plex Sans"/>
              </a:rPr>
              <a:t>Specialized agents divide a task no single prompt handles well</a:t>
            </a:r>
            <a:endParaRPr sz="1900"/>
          </a:p>
          <a:p>
            <a:pPr indent="-374650" lvl="0" marL="342900" marR="0" rtl="0" algn="l">
              <a:lnSpc>
                <a:spcPct val="138461"/>
              </a:lnSpc>
              <a:spcBef>
                <a:spcPts val="0"/>
              </a:spcBef>
              <a:spcAft>
                <a:spcPts val="0"/>
              </a:spcAft>
              <a:buClr>
                <a:srgbClr val="55594C"/>
              </a:buClr>
              <a:buSzPts val="1800"/>
              <a:buFont typeface="IBM Plex Sans"/>
              <a:buChar char="•"/>
            </a:pPr>
            <a:r>
              <a:rPr b="0" i="0" lang="en-US" sz="1800" u="none">
                <a:solidFill>
                  <a:srgbClr val="55594C"/>
                </a:solidFill>
                <a:latin typeface="IBM Plex Sans"/>
                <a:ea typeface="IBM Plex Sans"/>
                <a:cs typeface="IBM Plex Sans"/>
                <a:sym typeface="IBM Plex Sans"/>
              </a:rPr>
              <a:t>Learns from behavior over time, not one fixed rule set</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1D"/>
        </a:solidFill>
      </p:bgPr>
    </p:bg>
    <p:spTree>
      <p:nvGrpSpPr>
        <p:cNvPr id="179" name="Shape 179"/>
        <p:cNvGrpSpPr/>
        <p:nvPr/>
      </p:nvGrpSpPr>
      <p:grpSpPr>
        <a:xfrm>
          <a:off x="0" y="0"/>
          <a:ext cx="0" cy="0"/>
          <a:chOff x="0" y="0"/>
          <a:chExt cx="0" cy="0"/>
        </a:xfrm>
      </p:grpSpPr>
      <p:sp>
        <p:nvSpPr>
          <p:cNvPr id="180" name="Google Shape;180;p10"/>
          <p:cNvSpPr txBox="1"/>
          <p:nvPr/>
        </p:nvSpPr>
        <p:spPr>
          <a:xfrm>
            <a:off x="515900" y="367475"/>
            <a:ext cx="11388900" cy="2634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D98B54"/>
              </a:buClr>
              <a:buSzPts val="1274"/>
              <a:buFont typeface="IBM Plex Sans"/>
              <a:buNone/>
            </a:pPr>
            <a:r>
              <a:rPr b="1" i="0" lang="en-US" sz="1274" u="none">
                <a:solidFill>
                  <a:srgbClr val="D98B54"/>
                </a:solidFill>
                <a:latin typeface="IBM Plex Sans"/>
                <a:ea typeface="IBM Plex Sans"/>
                <a:cs typeface="IBM Plex Sans"/>
                <a:sym typeface="IBM Plex Sans"/>
              </a:rPr>
              <a:t>MILESTONES &amp; NEXT STEPS</a:t>
            </a:r>
            <a:endParaRPr sz="1486"/>
          </a:p>
        </p:txBody>
      </p:sp>
      <p:sp>
        <p:nvSpPr>
          <p:cNvPr id="181" name="Google Shape;181;p10"/>
          <p:cNvSpPr txBox="1"/>
          <p:nvPr/>
        </p:nvSpPr>
        <p:spPr>
          <a:xfrm>
            <a:off x="515900" y="715221"/>
            <a:ext cx="11388900" cy="546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F3EFE4"/>
              </a:buClr>
              <a:buSzPts val="3397"/>
              <a:buFont typeface="Source Serif 4"/>
              <a:buNone/>
            </a:pPr>
            <a:r>
              <a:rPr b="1" i="0" lang="en-US" sz="3397" u="none">
                <a:solidFill>
                  <a:srgbClr val="F3EFE4"/>
                </a:solidFill>
                <a:latin typeface="Source Serif 4"/>
                <a:ea typeface="Source Serif 4"/>
                <a:cs typeface="Source Serif 4"/>
                <a:sym typeface="Source Serif 4"/>
              </a:rPr>
              <a:t>Validating the core loop at Checkpoint 2</a:t>
            </a:r>
            <a:endParaRPr sz="1486"/>
          </a:p>
        </p:txBody>
      </p:sp>
      <p:sp>
        <p:nvSpPr>
          <p:cNvPr id="182" name="Google Shape;182;p10"/>
          <p:cNvSpPr txBox="1"/>
          <p:nvPr/>
        </p:nvSpPr>
        <p:spPr>
          <a:xfrm>
            <a:off x="515900" y="1570520"/>
            <a:ext cx="10958700" cy="618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FC0"/>
              </a:buClr>
              <a:buSzPts val="1486"/>
              <a:buFont typeface="IBM Plex Sans"/>
              <a:buNone/>
            </a:pPr>
            <a:r>
              <a:rPr b="0" i="0" lang="en-US" sz="1486" u="none">
                <a:solidFill>
                  <a:srgbClr val="C9CFC0"/>
                </a:solidFill>
                <a:latin typeface="IBM Plex Sans"/>
                <a:ea typeface="IBM Plex Sans"/>
                <a:cs typeface="IBM Plex Sans"/>
                <a:sym typeface="IBM Plex Sans"/>
              </a:rPr>
              <a:t>Checkpoint 2 tests whether the core planning loop works before any UI is built and whether decomposing it into agents actually beats one large prompt.</a:t>
            </a:r>
            <a:endParaRPr sz="1486"/>
          </a:p>
        </p:txBody>
      </p:sp>
      <p:sp>
        <p:nvSpPr>
          <p:cNvPr id="183" name="Google Shape;183;p10"/>
          <p:cNvSpPr/>
          <p:nvPr/>
        </p:nvSpPr>
        <p:spPr>
          <a:xfrm>
            <a:off x="519222" y="2501343"/>
            <a:ext cx="3554700" cy="3990000"/>
          </a:xfrm>
          <a:prstGeom prst="roundRect">
            <a:avLst>
              <a:gd fmla="val 1094" name="adj"/>
            </a:avLst>
          </a:prstGeom>
          <a:solidFill>
            <a:srgbClr val="28361F"/>
          </a:solidFill>
          <a:ln cap="flat" cmpd="sng" w="10100">
            <a:solidFill>
              <a:srgbClr val="3A4A32"/>
            </a:solidFill>
            <a:prstDash val="solid"/>
            <a:miter lim="8000"/>
            <a:headEnd len="sm" w="sm" type="none"/>
            <a:tailEnd len="sm" w="sm" type="none"/>
          </a:ln>
        </p:spPr>
        <p:txBody>
          <a:bodyPr anchorCtr="0" anchor="t" bIns="48525" lIns="48525" spcFirstLastPara="1" rIns="48525" wrap="square" tIns="48525">
            <a:noAutofit/>
          </a:bodyPr>
          <a:lstStyle/>
          <a:p>
            <a:pPr indent="0" lvl="0" marL="0" marR="0" rtl="0" algn="l">
              <a:lnSpc>
                <a:spcPct val="100000"/>
              </a:lnSpc>
              <a:spcBef>
                <a:spcPts val="0"/>
              </a:spcBef>
              <a:spcAft>
                <a:spcPts val="0"/>
              </a:spcAft>
              <a:buNone/>
            </a:pPr>
            <a:r>
              <a:t/>
            </a:r>
            <a:endParaRPr b="0" i="0" sz="1911" u="none">
              <a:solidFill>
                <a:srgbClr val="000000"/>
              </a:solidFill>
              <a:latin typeface="Calibri"/>
              <a:ea typeface="Calibri"/>
              <a:cs typeface="Calibri"/>
              <a:sym typeface="Calibri"/>
            </a:endParaRPr>
          </a:p>
        </p:txBody>
      </p:sp>
      <p:sp>
        <p:nvSpPr>
          <p:cNvPr id="184" name="Google Shape;184;p10"/>
          <p:cNvSpPr txBox="1"/>
          <p:nvPr/>
        </p:nvSpPr>
        <p:spPr>
          <a:xfrm>
            <a:off x="708591" y="2701585"/>
            <a:ext cx="3270600" cy="263400"/>
          </a:xfrm>
          <a:prstGeom prst="rect">
            <a:avLst/>
          </a:prstGeom>
          <a:noFill/>
          <a:ln>
            <a:noFill/>
          </a:ln>
        </p:spPr>
        <p:txBody>
          <a:bodyPr anchorCtr="0" anchor="t" bIns="0" lIns="0" spcFirstLastPara="1" rIns="0" wrap="square" tIns="0">
            <a:noAutofit/>
          </a:bodyPr>
          <a:lstStyle/>
          <a:p>
            <a:pPr indent="0" lvl="0" marL="0" marR="0" rtl="0" algn="l">
              <a:lnSpc>
                <a:spcPct val="114285"/>
              </a:lnSpc>
              <a:spcBef>
                <a:spcPts val="0"/>
              </a:spcBef>
              <a:spcAft>
                <a:spcPts val="0"/>
              </a:spcAft>
              <a:buClr>
                <a:srgbClr val="D98B54"/>
              </a:buClr>
              <a:buSzPts val="1486"/>
              <a:buFont typeface="IBM Plex Sans"/>
              <a:buNone/>
            </a:pPr>
            <a:r>
              <a:rPr b="1" i="0" lang="en-US" sz="1486" u="none">
                <a:solidFill>
                  <a:srgbClr val="D98B54"/>
                </a:solidFill>
                <a:latin typeface="IBM Plex Sans"/>
                <a:ea typeface="IBM Plex Sans"/>
                <a:cs typeface="IBM Plex Sans"/>
                <a:sym typeface="IBM Plex Sans"/>
              </a:rPr>
              <a:t>Validating now</a:t>
            </a:r>
            <a:endParaRPr sz="1486"/>
          </a:p>
        </p:txBody>
      </p:sp>
      <p:sp>
        <p:nvSpPr>
          <p:cNvPr id="185" name="Google Shape;185;p10"/>
          <p:cNvSpPr txBox="1"/>
          <p:nvPr/>
        </p:nvSpPr>
        <p:spPr>
          <a:xfrm>
            <a:off x="613998" y="3241443"/>
            <a:ext cx="3270600" cy="3104100"/>
          </a:xfrm>
          <a:prstGeom prst="rect">
            <a:avLst/>
          </a:prstGeom>
          <a:noFill/>
          <a:ln>
            <a:noFill/>
          </a:ln>
        </p:spPr>
        <p:txBody>
          <a:bodyPr anchorCtr="0" anchor="t" bIns="0" lIns="0" spcFirstLastPara="1" rIns="0" wrap="square" tIns="0">
            <a:noAutofit/>
          </a:bodyPr>
          <a:lstStyle/>
          <a:p>
            <a:pPr indent="-390999" lvl="0" marL="364034" marR="0" rtl="0" algn="l">
              <a:lnSpc>
                <a:spcPct val="133333"/>
              </a:lnSpc>
              <a:spcBef>
                <a:spcPts val="0"/>
              </a:spcBef>
              <a:spcAft>
                <a:spcPts val="0"/>
              </a:spcAft>
              <a:buClr>
                <a:srgbClr val="C9CFC0"/>
              </a:buClr>
              <a:buSzPts val="1699"/>
              <a:buFont typeface="IBM Plex Sans"/>
              <a:buChar char="•"/>
            </a:pPr>
            <a:r>
              <a:rPr b="0" i="0" lang="en-US" sz="1699" u="none">
                <a:solidFill>
                  <a:srgbClr val="C9CFC0"/>
                </a:solidFill>
                <a:latin typeface="IBM Plex Sans"/>
                <a:ea typeface="IBM Plex Sans"/>
                <a:cs typeface="IBM Plex Sans"/>
                <a:sym typeface="IBM Plex Sans"/>
              </a:rPr>
              <a:t>Profile → Plan → Cart prompt chain across synthetic profiles</a:t>
            </a:r>
            <a:endParaRPr sz="1911"/>
          </a:p>
          <a:p>
            <a:pPr indent="-390999" lvl="0" marL="364034" marR="0" rtl="0" algn="l">
              <a:lnSpc>
                <a:spcPct val="133333"/>
              </a:lnSpc>
              <a:spcBef>
                <a:spcPts val="0"/>
              </a:spcBef>
              <a:spcAft>
                <a:spcPts val="0"/>
              </a:spcAft>
              <a:buClr>
                <a:srgbClr val="C9CFC0"/>
              </a:buClr>
              <a:buSzPts val="1699"/>
              <a:buFont typeface="IBM Plex Sans"/>
              <a:buChar char="•"/>
            </a:pPr>
            <a:r>
              <a:rPr b="0" i="0" lang="en-US" sz="1699" u="none">
                <a:solidFill>
                  <a:srgbClr val="C9CFC0"/>
                </a:solidFill>
                <a:latin typeface="IBM Plex Sans"/>
                <a:ea typeface="IBM Plex Sans"/>
                <a:cs typeface="IBM Plex Sans"/>
                <a:sym typeface="IBM Plex Sans"/>
              </a:rPr>
              <a:t>Scored for nutrition accuracy, constraint fit, reuse, cost, waste</a:t>
            </a:r>
            <a:endParaRPr sz="1911"/>
          </a:p>
          <a:p>
            <a:pPr indent="-390999" lvl="0" marL="364034" marR="0" rtl="0" algn="l">
              <a:lnSpc>
                <a:spcPct val="133333"/>
              </a:lnSpc>
              <a:spcBef>
                <a:spcPts val="0"/>
              </a:spcBef>
              <a:spcAft>
                <a:spcPts val="0"/>
              </a:spcAft>
              <a:buClr>
                <a:srgbClr val="C9CFC0"/>
              </a:buClr>
              <a:buSzPts val="1699"/>
              <a:buFont typeface="IBM Plex Sans"/>
              <a:buChar char="•"/>
            </a:pPr>
            <a:r>
              <a:rPr b="0" i="0" lang="en-US" sz="1699" u="none">
                <a:solidFill>
                  <a:srgbClr val="C9CFC0"/>
                </a:solidFill>
                <a:latin typeface="IBM Plex Sans"/>
                <a:ea typeface="IBM Plex Sans"/>
                <a:cs typeface="IBM Plex Sans"/>
                <a:sym typeface="IBM Plex Sans"/>
              </a:rPr>
              <a:t>Agent decomposition vs. a single-prompt baseline</a:t>
            </a:r>
            <a:endParaRPr sz="1911"/>
          </a:p>
        </p:txBody>
      </p:sp>
      <p:sp>
        <p:nvSpPr>
          <p:cNvPr id="186" name="Google Shape;186;p10"/>
          <p:cNvSpPr/>
          <p:nvPr/>
        </p:nvSpPr>
        <p:spPr>
          <a:xfrm>
            <a:off x="4266736" y="2501343"/>
            <a:ext cx="3554700" cy="3941700"/>
          </a:xfrm>
          <a:prstGeom prst="roundRect">
            <a:avLst>
              <a:gd fmla="val 1094" name="adj"/>
            </a:avLst>
          </a:prstGeom>
          <a:solidFill>
            <a:srgbClr val="28361F"/>
          </a:solidFill>
          <a:ln cap="flat" cmpd="sng" w="10100">
            <a:solidFill>
              <a:srgbClr val="3A4A32"/>
            </a:solidFill>
            <a:prstDash val="solid"/>
            <a:miter lim="8000"/>
            <a:headEnd len="sm" w="sm" type="none"/>
            <a:tailEnd len="sm" w="sm" type="none"/>
          </a:ln>
        </p:spPr>
        <p:txBody>
          <a:bodyPr anchorCtr="0" anchor="t" bIns="48525" lIns="48525" spcFirstLastPara="1" rIns="48525" wrap="square" tIns="48525">
            <a:noAutofit/>
          </a:bodyPr>
          <a:lstStyle/>
          <a:p>
            <a:pPr indent="0" lvl="0" marL="0" marR="0" rtl="0" algn="l">
              <a:lnSpc>
                <a:spcPct val="100000"/>
              </a:lnSpc>
              <a:spcBef>
                <a:spcPts val="0"/>
              </a:spcBef>
              <a:spcAft>
                <a:spcPts val="0"/>
              </a:spcAft>
              <a:buNone/>
            </a:pPr>
            <a:r>
              <a:t/>
            </a:r>
            <a:endParaRPr b="0" i="0" sz="1911" u="none">
              <a:solidFill>
                <a:srgbClr val="000000"/>
              </a:solidFill>
              <a:latin typeface="Calibri"/>
              <a:ea typeface="Calibri"/>
              <a:cs typeface="Calibri"/>
              <a:sym typeface="Calibri"/>
            </a:endParaRPr>
          </a:p>
        </p:txBody>
      </p:sp>
      <p:sp>
        <p:nvSpPr>
          <p:cNvPr id="187" name="Google Shape;187;p10"/>
          <p:cNvSpPr txBox="1"/>
          <p:nvPr/>
        </p:nvSpPr>
        <p:spPr>
          <a:xfrm>
            <a:off x="4456105" y="2701585"/>
            <a:ext cx="3270600" cy="263400"/>
          </a:xfrm>
          <a:prstGeom prst="rect">
            <a:avLst/>
          </a:prstGeom>
          <a:noFill/>
          <a:ln>
            <a:noFill/>
          </a:ln>
        </p:spPr>
        <p:txBody>
          <a:bodyPr anchorCtr="0" anchor="t" bIns="0" lIns="0" spcFirstLastPara="1" rIns="0" wrap="square" tIns="0">
            <a:noAutofit/>
          </a:bodyPr>
          <a:lstStyle/>
          <a:p>
            <a:pPr indent="0" lvl="0" marL="0" marR="0" rtl="0" algn="l">
              <a:lnSpc>
                <a:spcPct val="114285"/>
              </a:lnSpc>
              <a:spcBef>
                <a:spcPts val="0"/>
              </a:spcBef>
              <a:spcAft>
                <a:spcPts val="0"/>
              </a:spcAft>
              <a:buClr>
                <a:srgbClr val="D98B54"/>
              </a:buClr>
              <a:buSzPts val="1486"/>
              <a:buFont typeface="IBM Plex Sans"/>
              <a:buNone/>
            </a:pPr>
            <a:r>
              <a:rPr b="1" i="0" lang="en-US" sz="1486" u="none">
                <a:solidFill>
                  <a:srgbClr val="D98B54"/>
                </a:solidFill>
                <a:latin typeface="IBM Plex Sans"/>
                <a:ea typeface="IBM Plex Sans"/>
                <a:cs typeface="IBM Plex Sans"/>
                <a:sym typeface="IBM Plex Sans"/>
              </a:rPr>
              <a:t>Biggest risks</a:t>
            </a:r>
            <a:endParaRPr sz="1486"/>
          </a:p>
        </p:txBody>
      </p:sp>
      <p:sp>
        <p:nvSpPr>
          <p:cNvPr id="188" name="Google Shape;188;p10"/>
          <p:cNvSpPr txBox="1"/>
          <p:nvPr/>
        </p:nvSpPr>
        <p:spPr>
          <a:xfrm>
            <a:off x="4408782" y="3241442"/>
            <a:ext cx="3270600" cy="3213600"/>
          </a:xfrm>
          <a:prstGeom prst="rect">
            <a:avLst/>
          </a:prstGeom>
          <a:noFill/>
          <a:ln>
            <a:noFill/>
          </a:ln>
        </p:spPr>
        <p:txBody>
          <a:bodyPr anchorCtr="0" anchor="t" bIns="0" lIns="0" spcFirstLastPara="1" rIns="0" wrap="square" tIns="0">
            <a:noAutofit/>
          </a:bodyPr>
          <a:lstStyle/>
          <a:p>
            <a:pPr indent="-390999" lvl="0" marL="364034" marR="0" rtl="0" algn="l">
              <a:lnSpc>
                <a:spcPct val="133333"/>
              </a:lnSpc>
              <a:spcBef>
                <a:spcPts val="0"/>
              </a:spcBef>
              <a:spcAft>
                <a:spcPts val="0"/>
              </a:spcAft>
              <a:buClr>
                <a:srgbClr val="C9CFC0"/>
              </a:buClr>
              <a:buSzPts val="1699"/>
              <a:buFont typeface="IBM Plex Sans"/>
              <a:buChar char="•"/>
            </a:pPr>
            <a:r>
              <a:rPr lang="en-US" sz="1699">
                <a:solidFill>
                  <a:srgbClr val="C9CFC0"/>
                </a:solidFill>
                <a:latin typeface="IBM Plex Sans"/>
                <a:ea typeface="IBM Plex Sans"/>
                <a:cs typeface="IBM Plex Sans"/>
                <a:sym typeface="IBM Plex Sans"/>
              </a:rPr>
              <a:t>Hallucinated nutrients or missed allergens</a:t>
            </a:r>
            <a:endParaRPr sz="1699">
              <a:solidFill>
                <a:srgbClr val="C9CFC0"/>
              </a:solidFill>
              <a:latin typeface="IBM Plex Sans"/>
              <a:ea typeface="IBM Plex Sans"/>
              <a:cs typeface="IBM Plex Sans"/>
              <a:sym typeface="IBM Plex Sans"/>
            </a:endParaRPr>
          </a:p>
          <a:p>
            <a:pPr indent="-390999" lvl="0" marL="364034" marR="0" rtl="0" algn="l">
              <a:lnSpc>
                <a:spcPct val="133333"/>
              </a:lnSpc>
              <a:spcBef>
                <a:spcPts val="0"/>
              </a:spcBef>
              <a:spcAft>
                <a:spcPts val="0"/>
              </a:spcAft>
              <a:buClr>
                <a:srgbClr val="C9CFC0"/>
              </a:buClr>
              <a:buSzPts val="1699"/>
              <a:buFont typeface="IBM Plex Sans"/>
              <a:buChar char="•"/>
            </a:pPr>
            <a:r>
              <a:rPr lang="en-US" sz="1699">
                <a:solidFill>
                  <a:srgbClr val="C9CFC0"/>
                </a:solidFill>
                <a:latin typeface="IBM Plex Sans"/>
                <a:ea typeface="IBM Plex Sans"/>
                <a:cs typeface="IBM Plex Sans"/>
                <a:sym typeface="IBM Plex Sans"/>
              </a:rPr>
              <a:t>Shopping: weak retrieval, safety, and seller bias</a:t>
            </a:r>
            <a:endParaRPr sz="1699">
              <a:solidFill>
                <a:srgbClr val="C9CFC0"/>
              </a:solidFill>
              <a:latin typeface="IBM Plex Sans"/>
              <a:ea typeface="IBM Plex Sans"/>
              <a:cs typeface="IBM Plex Sans"/>
              <a:sym typeface="IBM Plex Sans"/>
            </a:endParaRPr>
          </a:p>
          <a:p>
            <a:pPr indent="-390999" lvl="0" marL="364034" marR="0" rtl="0" algn="l">
              <a:lnSpc>
                <a:spcPct val="133333"/>
              </a:lnSpc>
              <a:spcBef>
                <a:spcPts val="0"/>
              </a:spcBef>
              <a:spcAft>
                <a:spcPts val="0"/>
              </a:spcAft>
              <a:buClr>
                <a:srgbClr val="C9CFC0"/>
              </a:buClr>
              <a:buSzPts val="1699"/>
              <a:buFont typeface="IBM Plex Sans"/>
              <a:buChar char="•"/>
            </a:pPr>
            <a:r>
              <a:rPr lang="en-US" sz="1699">
                <a:solidFill>
                  <a:srgbClr val="C9CFC0"/>
                </a:solidFill>
                <a:latin typeface="IBM Plex Sans"/>
                <a:ea typeface="IBM Plex Sans"/>
                <a:cs typeface="IBM Plex Sans"/>
                <a:sym typeface="IBM Plex Sans"/>
              </a:rPr>
              <a:t>Sensitive health, eating, and pantry-photo data</a:t>
            </a:r>
            <a:endParaRPr sz="1486"/>
          </a:p>
        </p:txBody>
      </p:sp>
      <p:sp>
        <p:nvSpPr>
          <p:cNvPr id="189" name="Google Shape;189;p10"/>
          <p:cNvSpPr/>
          <p:nvPr/>
        </p:nvSpPr>
        <p:spPr>
          <a:xfrm>
            <a:off x="8014249" y="2501344"/>
            <a:ext cx="3554700" cy="3893100"/>
          </a:xfrm>
          <a:prstGeom prst="roundRect">
            <a:avLst>
              <a:gd fmla="val 1094" name="adj"/>
            </a:avLst>
          </a:prstGeom>
          <a:solidFill>
            <a:srgbClr val="28361F"/>
          </a:solidFill>
          <a:ln cap="flat" cmpd="sng" w="10100">
            <a:solidFill>
              <a:srgbClr val="3A4A32"/>
            </a:solidFill>
            <a:prstDash val="solid"/>
            <a:miter lim="8000"/>
            <a:headEnd len="sm" w="sm" type="none"/>
            <a:tailEnd len="sm" w="sm" type="none"/>
          </a:ln>
        </p:spPr>
        <p:txBody>
          <a:bodyPr anchorCtr="0" anchor="t" bIns="48525" lIns="48525" spcFirstLastPara="1" rIns="48525" wrap="square" tIns="48525">
            <a:noAutofit/>
          </a:bodyPr>
          <a:lstStyle/>
          <a:p>
            <a:pPr indent="0" lvl="0" marL="0" marR="0" rtl="0" algn="l">
              <a:lnSpc>
                <a:spcPct val="100000"/>
              </a:lnSpc>
              <a:spcBef>
                <a:spcPts val="0"/>
              </a:spcBef>
              <a:spcAft>
                <a:spcPts val="0"/>
              </a:spcAft>
              <a:buNone/>
            </a:pPr>
            <a:r>
              <a:t/>
            </a:r>
            <a:endParaRPr b="0" i="0" sz="1911" u="none">
              <a:solidFill>
                <a:srgbClr val="000000"/>
              </a:solidFill>
              <a:latin typeface="Calibri"/>
              <a:ea typeface="Calibri"/>
              <a:cs typeface="Calibri"/>
              <a:sym typeface="Calibri"/>
            </a:endParaRPr>
          </a:p>
        </p:txBody>
      </p:sp>
      <p:sp>
        <p:nvSpPr>
          <p:cNvPr id="190" name="Google Shape;190;p10"/>
          <p:cNvSpPr txBox="1"/>
          <p:nvPr/>
        </p:nvSpPr>
        <p:spPr>
          <a:xfrm>
            <a:off x="8203618" y="2701585"/>
            <a:ext cx="3270600" cy="263400"/>
          </a:xfrm>
          <a:prstGeom prst="rect">
            <a:avLst/>
          </a:prstGeom>
          <a:noFill/>
          <a:ln>
            <a:noFill/>
          </a:ln>
        </p:spPr>
        <p:txBody>
          <a:bodyPr anchorCtr="0" anchor="t" bIns="0" lIns="0" spcFirstLastPara="1" rIns="0" wrap="square" tIns="0">
            <a:noAutofit/>
          </a:bodyPr>
          <a:lstStyle/>
          <a:p>
            <a:pPr indent="0" lvl="0" marL="0" marR="0" rtl="0" algn="l">
              <a:lnSpc>
                <a:spcPct val="114285"/>
              </a:lnSpc>
              <a:spcBef>
                <a:spcPts val="0"/>
              </a:spcBef>
              <a:spcAft>
                <a:spcPts val="0"/>
              </a:spcAft>
              <a:buClr>
                <a:srgbClr val="D98B54"/>
              </a:buClr>
              <a:buSzPts val="1486"/>
              <a:buFont typeface="IBM Plex Sans"/>
              <a:buNone/>
            </a:pPr>
            <a:r>
              <a:rPr b="1" i="0" lang="en-US" sz="1486" u="none">
                <a:solidFill>
                  <a:srgbClr val="D98B54"/>
                </a:solidFill>
                <a:latin typeface="IBM Plex Sans"/>
                <a:ea typeface="IBM Plex Sans"/>
                <a:cs typeface="IBM Plex Sans"/>
                <a:sym typeface="IBM Plex Sans"/>
              </a:rPr>
              <a:t>Next steps</a:t>
            </a:r>
            <a:endParaRPr sz="1486"/>
          </a:p>
        </p:txBody>
      </p:sp>
      <p:sp>
        <p:nvSpPr>
          <p:cNvPr id="191" name="Google Shape;191;p10"/>
          <p:cNvSpPr txBox="1"/>
          <p:nvPr/>
        </p:nvSpPr>
        <p:spPr>
          <a:xfrm>
            <a:off x="8203618" y="3035280"/>
            <a:ext cx="3270600" cy="1443600"/>
          </a:xfrm>
          <a:prstGeom prst="rect">
            <a:avLst/>
          </a:prstGeom>
          <a:noFill/>
          <a:ln>
            <a:noFill/>
          </a:ln>
        </p:spPr>
        <p:txBody>
          <a:bodyPr anchorCtr="0" anchor="t" bIns="0" lIns="0" spcFirstLastPara="1" rIns="0" wrap="square" tIns="0">
            <a:noAutofit/>
          </a:bodyPr>
          <a:lstStyle/>
          <a:p>
            <a:pPr indent="-390999" lvl="0" marL="364034" marR="0" rtl="0" algn="l">
              <a:lnSpc>
                <a:spcPct val="133333"/>
              </a:lnSpc>
              <a:spcBef>
                <a:spcPts val="0"/>
              </a:spcBef>
              <a:spcAft>
                <a:spcPts val="0"/>
              </a:spcAft>
              <a:buClr>
                <a:srgbClr val="C9CFC0"/>
              </a:buClr>
              <a:buSzPts val="1699"/>
              <a:buFont typeface="IBM Plex Sans"/>
              <a:buChar char="•"/>
            </a:pPr>
            <a:r>
              <a:rPr lang="en-US" sz="1699">
                <a:solidFill>
                  <a:srgbClr val="C9CFC0"/>
                </a:solidFill>
                <a:latin typeface="IBM Plex Sans"/>
                <a:ea typeface="IBM Plex Sans"/>
                <a:cs typeface="IBM Plex Sans"/>
                <a:sym typeface="IBM Plex Sans"/>
              </a:rPr>
              <a:t>Recheck nutrition against a trusted database, never the LLM alone</a:t>
            </a:r>
            <a:endParaRPr sz="1699">
              <a:solidFill>
                <a:srgbClr val="C9CFC0"/>
              </a:solidFill>
              <a:latin typeface="IBM Plex Sans"/>
              <a:ea typeface="IBM Plex Sans"/>
              <a:cs typeface="IBM Plex Sans"/>
              <a:sym typeface="IBM Plex Sans"/>
            </a:endParaRPr>
          </a:p>
          <a:p>
            <a:pPr indent="-390999" lvl="0" marL="364034" marR="0" rtl="0" algn="l">
              <a:lnSpc>
                <a:spcPct val="133333"/>
              </a:lnSpc>
              <a:spcBef>
                <a:spcPts val="0"/>
              </a:spcBef>
              <a:spcAft>
                <a:spcPts val="0"/>
              </a:spcAft>
              <a:buClr>
                <a:srgbClr val="C9CFC0"/>
              </a:buClr>
              <a:buSzPts val="1699"/>
              <a:buFont typeface="IBM Plex Sans"/>
              <a:buChar char="•"/>
            </a:pPr>
            <a:r>
              <a:rPr lang="en-US" sz="1699">
                <a:solidFill>
                  <a:srgbClr val="C9CFC0"/>
                </a:solidFill>
                <a:latin typeface="IBM Plex Sans"/>
                <a:ea typeface="IBM Plex Sans"/>
                <a:cs typeface="IBM Plex Sans"/>
                <a:sym typeface="IBM Plex Sans"/>
              </a:rPr>
              <a:t>Run shopping tests: missing items, bad listings, unsafe swaps</a:t>
            </a:r>
            <a:endParaRPr sz="1699">
              <a:solidFill>
                <a:srgbClr val="C9CFC0"/>
              </a:solidFill>
              <a:latin typeface="IBM Plex Sans"/>
              <a:ea typeface="IBM Plex Sans"/>
              <a:cs typeface="IBM Plex Sans"/>
              <a:sym typeface="IBM Plex Sans"/>
            </a:endParaRPr>
          </a:p>
          <a:p>
            <a:pPr indent="-390999" lvl="0" marL="364034" marR="0" rtl="0" algn="l">
              <a:lnSpc>
                <a:spcPct val="133333"/>
              </a:lnSpc>
              <a:spcBef>
                <a:spcPts val="0"/>
              </a:spcBef>
              <a:spcAft>
                <a:spcPts val="0"/>
              </a:spcAft>
              <a:buClr>
                <a:srgbClr val="C9CFC0"/>
              </a:buClr>
              <a:buSzPts val="1699"/>
              <a:buFont typeface="IBM Plex Sans"/>
              <a:buChar char="•"/>
            </a:pPr>
            <a:r>
              <a:rPr lang="en-US" sz="1699">
                <a:solidFill>
                  <a:srgbClr val="C9CFC0"/>
                </a:solidFill>
                <a:latin typeface="IBM Plex Sans"/>
                <a:ea typeface="IBM Plex Sans"/>
                <a:cs typeface="IBM Plex Sans"/>
                <a:sym typeface="IBM Plex Sans"/>
              </a:rPr>
              <a:t>Small user evaluation of relevance and willingness to follow it</a:t>
            </a:r>
            <a:endParaRPr sz="1486"/>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